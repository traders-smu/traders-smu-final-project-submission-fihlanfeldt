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83" r:id="rId5"/>
    <p:sldMasterId id="2147483691" r:id="rId6"/>
    <p:sldMasterId id="2147483701" r:id="rId7"/>
  </p:sldMasterIdLst>
  <p:notesMasterIdLst>
    <p:notesMasterId r:id="rId23"/>
  </p:notesMasterIdLst>
  <p:handoutMasterIdLst>
    <p:handoutMasterId r:id="rId24"/>
  </p:handoutMasterIdLst>
  <p:sldIdLst>
    <p:sldId id="278" r:id="rId8"/>
    <p:sldId id="279" r:id="rId9"/>
    <p:sldId id="291" r:id="rId10"/>
    <p:sldId id="295" r:id="rId11"/>
    <p:sldId id="280" r:id="rId12"/>
    <p:sldId id="290" r:id="rId13"/>
    <p:sldId id="283" r:id="rId14"/>
    <p:sldId id="284" r:id="rId15"/>
    <p:sldId id="286" r:id="rId16"/>
    <p:sldId id="285" r:id="rId17"/>
    <p:sldId id="289" r:id="rId18"/>
    <p:sldId id="288" r:id="rId19"/>
    <p:sldId id="293" r:id="rId20"/>
    <p:sldId id="294" r:id="rId21"/>
    <p:sldId id="264"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A94"/>
    <a:srgbClr val="667085"/>
    <a:srgbClr val="E4E4E4"/>
    <a:srgbClr val="DCDCDC"/>
    <a:srgbClr val="E7E7E7"/>
    <a:srgbClr val="A6A6A6"/>
    <a:srgbClr val="D3D3D3"/>
    <a:srgbClr val="0C111D"/>
    <a:srgbClr val="215F9A"/>
    <a:srgbClr val="2B31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776777-533F-1F46-17A6-3CD27BC5F0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62E372-6FA1-A1FB-D81A-004BBB5AB8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5BA313-476D-7C4B-929B-B38D84B0F007}" type="datetimeFigureOut">
              <a:rPr lang="en-US" smtClean="0"/>
              <a:t>4/30/25</a:t>
            </a:fld>
            <a:endParaRPr lang="en-US"/>
          </a:p>
        </p:txBody>
      </p:sp>
      <p:sp>
        <p:nvSpPr>
          <p:cNvPr id="4" name="Footer Placeholder 3">
            <a:extLst>
              <a:ext uri="{FF2B5EF4-FFF2-40B4-BE49-F238E27FC236}">
                <a16:creationId xmlns:a16="http://schemas.microsoft.com/office/drawing/2014/main" id="{569B3795-CB85-2700-647A-D0D13EEBCD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15590F-FAEF-DBF2-01E0-01CE91F946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A69087-9585-DD40-9CDA-0E0C83725E4D}" type="slidenum">
              <a:rPr lang="en-US" smtClean="0"/>
              <a:t>‹#›</a:t>
            </a:fld>
            <a:endParaRPr lang="en-US"/>
          </a:p>
        </p:txBody>
      </p:sp>
    </p:spTree>
    <p:extLst>
      <p:ext uri="{BB962C8B-B14F-4D97-AF65-F5344CB8AC3E}">
        <p14:creationId xmlns:p14="http://schemas.microsoft.com/office/powerpoint/2010/main" val="18993611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1143000" y="685800"/>
            <a:ext cx="4572000" cy="3429000"/>
          </a:xfrm>
          <a:prstGeom prst="rect">
            <a:avLst/>
          </a:prstGeom>
        </p:spPr>
        <p:txBody>
          <a:bodyPr/>
          <a:lstStyle/>
          <a:p>
            <a:endParaRPr/>
          </a:p>
        </p:txBody>
      </p:sp>
      <p:sp>
        <p:nvSpPr>
          <p:cNvPr id="192" name="Shape 1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atin typeface="Calibri"/>
                <a:ea typeface="Calibri"/>
                <a:cs typeface="Calibri"/>
              </a:rPr>
              <a:t>Agenda</a:t>
            </a:r>
          </a:p>
          <a:p>
            <a:pPr marL="342900" indent="-342900">
              <a:buFont typeface="Arial"/>
              <a:buChar char="•"/>
            </a:pPr>
            <a:r>
              <a:rPr lang="en-US">
                <a:solidFill>
                  <a:srgbClr val="000000"/>
                </a:solidFill>
                <a:latin typeface="Calibri"/>
                <a:ea typeface="Calibri"/>
                <a:cs typeface="Calibri"/>
              </a:rPr>
              <a:t>Talk about where we got data from (FRED and SPY)</a:t>
            </a:r>
          </a:p>
          <a:p>
            <a:pPr marL="342900" indent="-342900">
              <a:buFont typeface="Arial"/>
              <a:buChar char="•"/>
            </a:pPr>
            <a:r>
              <a:rPr lang="en-US">
                <a:solidFill>
                  <a:srgbClr val="000000"/>
                </a:solidFill>
                <a:latin typeface="Calibri"/>
                <a:ea typeface="Calibri"/>
                <a:cs typeface="Calibri"/>
              </a:rPr>
              <a:t>The steps we took and different ways we tested the data through different regressions </a:t>
            </a:r>
          </a:p>
          <a:p>
            <a:pPr marL="342900" indent="-342900">
              <a:buFont typeface="Arial"/>
              <a:buChar char="•"/>
            </a:pPr>
            <a:r>
              <a:rPr lang="en-US">
                <a:solidFill>
                  <a:srgbClr val="000000"/>
                </a:solidFill>
                <a:latin typeface="Calibri"/>
                <a:ea typeface="Calibri"/>
                <a:cs typeface="Calibri"/>
              </a:rPr>
              <a:t>Compare results from those tests</a:t>
            </a:r>
          </a:p>
          <a:p>
            <a:pPr marL="342900" indent="-342900">
              <a:buFont typeface="Arial"/>
              <a:buChar char="•"/>
            </a:pPr>
            <a:r>
              <a:rPr lang="en-US">
                <a:solidFill>
                  <a:srgbClr val="000000"/>
                </a:solidFill>
                <a:latin typeface="Calibri"/>
                <a:ea typeface="Calibri"/>
                <a:cs typeface="Calibri"/>
              </a:rPr>
              <a:t>Then our conclusion</a:t>
            </a:r>
          </a:p>
          <a:p>
            <a:pPr marL="342900" indent="-342900">
              <a:buFont typeface="Arial"/>
              <a:buChar char="•"/>
            </a:pPr>
            <a:r>
              <a:rPr lang="en-US">
                <a:solidFill>
                  <a:srgbClr val="000000"/>
                </a:solidFill>
                <a:latin typeface="Calibri"/>
                <a:ea typeface="Calibri"/>
                <a:cs typeface="Calibri"/>
              </a:rPr>
              <a:t>Then any questions you may have</a:t>
            </a:r>
          </a:p>
          <a:p>
            <a:endParaRPr lang="en-US">
              <a:solidFill>
                <a:srgbClr val="000000"/>
              </a:solidFill>
              <a:latin typeface="Calibri"/>
              <a:ea typeface="Calibri"/>
              <a:cs typeface="Calibri"/>
            </a:endParaRPr>
          </a:p>
        </p:txBody>
      </p:sp>
    </p:spTree>
    <p:extLst>
      <p:ext uri="{BB962C8B-B14F-4D97-AF65-F5344CB8AC3E}">
        <p14:creationId xmlns:p14="http://schemas.microsoft.com/office/powerpoint/2010/main" val="2638937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atin typeface="Calibri"/>
                <a:ea typeface="Calibri"/>
                <a:cs typeface="Calibri"/>
              </a:rPr>
              <a:t>Downloading Data and Exploratory Data Analysis- </a:t>
            </a:r>
            <a:endParaRPr lang="en-US">
              <a:latin typeface="Helvetica Neue"/>
              <a:ea typeface="Calibri"/>
              <a:cs typeface="Calibri"/>
            </a:endParaRPr>
          </a:p>
          <a:p>
            <a:pPr marL="342900" indent="-342900">
              <a:buFont typeface="Arial"/>
              <a:buChar char="•"/>
            </a:pPr>
            <a:r>
              <a:rPr lang="en-US">
                <a:latin typeface="Calibri"/>
                <a:ea typeface="Calibri"/>
                <a:cs typeface="Calibri"/>
              </a:rPr>
              <a:t>Imported libraries: </a:t>
            </a:r>
            <a:r>
              <a:rPr lang="en-US" err="1">
                <a:latin typeface="Calibri"/>
                <a:ea typeface="Calibri"/>
                <a:cs typeface="Calibri"/>
              </a:rPr>
              <a:t>Yfinance</a:t>
            </a:r>
            <a:r>
              <a:rPr lang="en-US">
                <a:latin typeface="Calibri"/>
                <a:ea typeface="Calibri"/>
                <a:cs typeface="Calibri"/>
              </a:rPr>
              <a:t>, Pandas, </a:t>
            </a:r>
            <a:r>
              <a:rPr lang="en-US" err="1">
                <a:latin typeface="Calibri"/>
                <a:ea typeface="Calibri"/>
                <a:cs typeface="Calibri"/>
              </a:rPr>
              <a:t>Numpy</a:t>
            </a:r>
            <a:r>
              <a:rPr lang="en-US">
                <a:latin typeface="Calibri"/>
                <a:ea typeface="Calibri"/>
                <a:cs typeface="Calibri"/>
              </a:rPr>
              <a:t>, </a:t>
            </a:r>
            <a:r>
              <a:rPr lang="en-US" err="1">
                <a:latin typeface="Calibri"/>
                <a:ea typeface="Calibri"/>
                <a:cs typeface="Calibri"/>
              </a:rPr>
              <a:t>MatPlotLib</a:t>
            </a:r>
            <a:r>
              <a:rPr lang="en-US">
                <a:latin typeface="Calibri"/>
                <a:ea typeface="Calibri"/>
                <a:cs typeface="Calibri"/>
              </a:rPr>
              <a:t>, Seaborn, </a:t>
            </a:r>
            <a:r>
              <a:rPr lang="en-US" err="1">
                <a:latin typeface="Calibri"/>
                <a:ea typeface="Calibri"/>
                <a:cs typeface="Calibri"/>
              </a:rPr>
              <a:t>StatsModels.API</a:t>
            </a:r>
            <a:r>
              <a:rPr lang="en-US">
                <a:latin typeface="Calibri"/>
                <a:ea typeface="Calibri"/>
                <a:cs typeface="Calibri"/>
              </a:rPr>
              <a:t>.</a:t>
            </a:r>
            <a:endParaRPr lang="en-US">
              <a:solidFill>
                <a:srgbClr val="000000"/>
              </a:solidFill>
              <a:latin typeface="Helvetica Neue"/>
              <a:ea typeface="Calibri"/>
              <a:cs typeface="Calibri"/>
            </a:endParaRPr>
          </a:p>
          <a:p>
            <a:pPr marL="342900" indent="-342900">
              <a:buFont typeface="Arial"/>
              <a:buChar char="•"/>
            </a:pPr>
            <a:r>
              <a:rPr lang="en-US">
                <a:solidFill>
                  <a:srgbClr val="000000"/>
                </a:solidFill>
                <a:latin typeface="Calibri"/>
                <a:ea typeface="Calibri"/>
                <a:cs typeface="Calibri"/>
              </a:rPr>
              <a:t>Defined Macro variables, and downloaded macro data from FRED</a:t>
            </a:r>
          </a:p>
          <a:p>
            <a:pPr marL="342900" indent="-342900">
              <a:buFont typeface="Arial"/>
              <a:buChar char="•"/>
            </a:pPr>
            <a:r>
              <a:rPr lang="en-US">
                <a:latin typeface="Calibri"/>
                <a:ea typeface="Calibri"/>
                <a:cs typeface="Calibri"/>
              </a:rPr>
              <a:t>Download SPY monthly returns and calculated those returns</a:t>
            </a:r>
          </a:p>
          <a:p>
            <a:r>
              <a:rPr lang="en-US">
                <a:latin typeface="Calibri"/>
                <a:ea typeface="Calibri"/>
                <a:cs typeface="Calibri"/>
              </a:rPr>
              <a:t>Indicator Lagging and feature engineering—effects of these indicators are not instantaneous to market outcomes </a:t>
            </a:r>
          </a:p>
          <a:p>
            <a:pPr marL="342900" indent="-342900">
              <a:buFont typeface="Arial"/>
              <a:buChar char="•"/>
            </a:pPr>
            <a:r>
              <a:rPr lang="en-US">
                <a:latin typeface="Calibri"/>
                <a:ea typeface="Calibri"/>
                <a:cs typeface="Calibri"/>
              </a:rPr>
              <a:t>Did this to see if using past data can help us predict future market returns</a:t>
            </a:r>
          </a:p>
          <a:p>
            <a:r>
              <a:rPr lang="en-US">
                <a:latin typeface="Calibri"/>
                <a:ea typeface="Calibri"/>
                <a:cs typeface="Calibri"/>
              </a:rPr>
              <a:t>Rolling Window Analysis-Shows economic relationships are not constant, helped us track changes over time</a:t>
            </a:r>
          </a:p>
          <a:p>
            <a:pPr marL="342900" indent="-342900">
              <a:buFont typeface="Arial"/>
              <a:buChar char="•"/>
            </a:pPr>
            <a:r>
              <a:rPr lang="en-US">
                <a:latin typeface="Calibri"/>
                <a:ea typeface="Calibri"/>
                <a:cs typeface="Calibri"/>
              </a:rPr>
              <a:t>We used a 24 month rolling window</a:t>
            </a:r>
          </a:p>
          <a:p>
            <a:pPr marL="342900" indent="-342900">
              <a:buFont typeface="Arial"/>
              <a:buChar char="•"/>
            </a:pPr>
            <a:r>
              <a:rPr lang="en-US">
                <a:latin typeface="Calibri"/>
                <a:ea typeface="Calibri"/>
                <a:cs typeface="Calibri"/>
              </a:rPr>
              <a:t>Focused on how sensitive SPY returns were to each macro variable</a:t>
            </a:r>
          </a:p>
          <a:p>
            <a:r>
              <a:rPr lang="en-US">
                <a:latin typeface="Calibri"/>
                <a:ea typeface="Calibri"/>
                <a:cs typeface="Calibri"/>
              </a:rPr>
              <a:t>Granger </a:t>
            </a:r>
            <a:r>
              <a:rPr lang="en-US" err="1">
                <a:latin typeface="Calibri"/>
                <a:ea typeface="Calibri"/>
                <a:cs typeface="Calibri"/>
              </a:rPr>
              <a:t>Casuality</a:t>
            </a:r>
            <a:r>
              <a:rPr lang="en-US">
                <a:latin typeface="Calibri"/>
                <a:ea typeface="Calibri"/>
                <a:cs typeface="Calibri"/>
              </a:rPr>
              <a:t> Tests- to test predictability </a:t>
            </a:r>
          </a:p>
          <a:p>
            <a:pPr marL="342900" indent="-342900">
              <a:buFont typeface="Arial"/>
              <a:buChar char="•"/>
            </a:pPr>
            <a:r>
              <a:rPr lang="en-US">
                <a:latin typeface="Calibri"/>
                <a:ea typeface="Calibri"/>
                <a:cs typeface="Calibri"/>
              </a:rPr>
              <a:t>time series test to see whether past values of an indicator help predict future SPY returns</a:t>
            </a:r>
          </a:p>
          <a:p>
            <a:r>
              <a:rPr lang="en-US">
                <a:latin typeface="Calibri"/>
                <a:ea typeface="Calibri"/>
                <a:cs typeface="Calibri"/>
              </a:rPr>
              <a:t> </a:t>
            </a:r>
          </a:p>
          <a:p>
            <a:endParaRPr lang="en-US">
              <a:latin typeface="Calibri"/>
              <a:ea typeface="Calibri"/>
              <a:cs typeface="Calibri"/>
            </a:endParaRPr>
          </a:p>
          <a:p>
            <a:endParaRPr lang="en-US"/>
          </a:p>
        </p:txBody>
      </p:sp>
    </p:spTree>
    <p:extLst>
      <p:ext uri="{BB962C8B-B14F-4D97-AF65-F5344CB8AC3E}">
        <p14:creationId xmlns:p14="http://schemas.microsoft.com/office/powerpoint/2010/main" val="957637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Downloading Data and Exploratory Data Analysis- </a:t>
            </a:r>
          </a:p>
          <a:p>
            <a:pPr marL="342900" indent="-342900">
              <a:buFont typeface="Arial,Sans-Serif"/>
              <a:buChar char="•"/>
            </a:pPr>
            <a:r>
              <a:rPr lang="en-US"/>
              <a:t>Imported libraries: </a:t>
            </a:r>
            <a:r>
              <a:rPr lang="en-US" err="1"/>
              <a:t>Yfinance</a:t>
            </a:r>
            <a:r>
              <a:rPr lang="en-US"/>
              <a:t>, Pandas, </a:t>
            </a:r>
            <a:r>
              <a:rPr lang="en-US" err="1"/>
              <a:t>Numpy</a:t>
            </a:r>
            <a:r>
              <a:rPr lang="en-US"/>
              <a:t>, </a:t>
            </a:r>
            <a:r>
              <a:rPr lang="en-US" err="1"/>
              <a:t>MatPlotLib</a:t>
            </a:r>
            <a:r>
              <a:rPr lang="en-US"/>
              <a:t>, Seaborn, </a:t>
            </a:r>
            <a:r>
              <a:rPr lang="en-US" err="1"/>
              <a:t>StatsModels.API</a:t>
            </a:r>
            <a:r>
              <a:rPr lang="en-US"/>
              <a:t>.</a:t>
            </a:r>
          </a:p>
          <a:p>
            <a:pPr marL="342900" indent="-342900">
              <a:buFont typeface="Arial,Sans-Serif"/>
              <a:buChar char="•"/>
            </a:pPr>
            <a:r>
              <a:rPr lang="en-US"/>
              <a:t>Defined Macro variables, and downloaded macro data from FRED- Unemployment Rate, Yield Curve, Federal Funds Rate, CPI</a:t>
            </a:r>
          </a:p>
          <a:p>
            <a:pPr marL="342900" indent="-342900">
              <a:buFont typeface="Arial,Sans-Serif"/>
              <a:buChar char="•"/>
            </a:pPr>
            <a:r>
              <a:rPr lang="en-US"/>
              <a:t>Download SPY monthly returns and calculated those returns</a:t>
            </a:r>
          </a:p>
          <a:p>
            <a:pPr marL="342900" indent="-342900">
              <a:buFont typeface="Arial,Sans-Serif"/>
              <a:buChar char="•"/>
            </a:pPr>
            <a:r>
              <a:rPr lang="en-US"/>
              <a:t>Cleaned Data- by aligning timeframes(converted all data to monthly)</a:t>
            </a:r>
          </a:p>
          <a:p>
            <a:endParaRPr lang="en-US"/>
          </a:p>
        </p:txBody>
      </p:sp>
    </p:spTree>
    <p:extLst>
      <p:ext uri="{BB962C8B-B14F-4D97-AF65-F5344CB8AC3E}">
        <p14:creationId xmlns:p14="http://schemas.microsoft.com/office/powerpoint/2010/main" val="3150362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indent="-285750">
              <a:buFont typeface="Arial"/>
              <a:buChar char="•"/>
            </a:pPr>
            <a:r>
              <a:rPr lang="en-US" dirty="0">
                <a:latin typeface="Calibri"/>
                <a:ea typeface="Calibri"/>
                <a:cs typeface="Calibri"/>
              </a:rPr>
              <a:t>This a table of our variables: unemployment rate with a 1 month, and 3 month lag, the spread between the </a:t>
            </a:r>
            <a:r>
              <a:rPr lang="en-US" u="sng" dirty="0">
                <a:latin typeface="Calibri"/>
                <a:ea typeface="Calibri"/>
                <a:cs typeface="Calibri"/>
              </a:rPr>
              <a:t>10year</a:t>
            </a:r>
            <a:r>
              <a:rPr lang="en-US" dirty="0">
                <a:latin typeface="Calibri"/>
                <a:ea typeface="Calibri"/>
                <a:cs typeface="Calibri"/>
              </a:rPr>
              <a:t> and two year with 1 month and 3 month lag, etc. </a:t>
            </a:r>
          </a:p>
          <a:p>
            <a:pPr marL="285750" indent="-285750">
              <a:buFont typeface="Arial"/>
              <a:buChar char="•"/>
            </a:pPr>
            <a:endParaRPr lang="en-US" dirty="0">
              <a:latin typeface="Calibri"/>
              <a:ea typeface="Calibri"/>
              <a:cs typeface="Calibri"/>
            </a:endParaRPr>
          </a:p>
          <a:p>
            <a:pPr marL="285750" indent="-285750">
              <a:buFont typeface="Arial"/>
              <a:buChar char="•"/>
            </a:pPr>
            <a:endParaRPr lang="en-US" dirty="0">
              <a:solidFill>
                <a:srgbClr val="000000"/>
              </a:solidFill>
              <a:latin typeface="Calibri"/>
              <a:ea typeface="Calibri"/>
              <a:cs typeface="Calibri"/>
            </a:endParaRPr>
          </a:p>
          <a:p>
            <a:pPr marL="457200" lvl="1" indent="0"/>
            <a:r>
              <a:rPr lang="en-US" dirty="0">
                <a:solidFill>
                  <a:srgbClr val="000000"/>
                </a:solidFill>
                <a:latin typeface="Calibri"/>
                <a:ea typeface="Calibri"/>
                <a:cs typeface="Calibri"/>
              </a:rPr>
              <a:t>In the real world, markets don’t instantly react to economic data, investors process and react over time. So lags are crucial </a:t>
            </a:r>
          </a:p>
          <a:p>
            <a:pPr marL="457200" lvl="1" indent="0"/>
            <a:endParaRPr lang="en-US" dirty="0">
              <a:solidFill>
                <a:srgbClr val="000000"/>
              </a:solidFill>
              <a:latin typeface="Calibri"/>
              <a:ea typeface="Calibri"/>
              <a:cs typeface="Calibri"/>
            </a:endParaRPr>
          </a:p>
          <a:p>
            <a:pPr marL="457200" lvl="1" indent="0"/>
            <a:endParaRPr lang="en-US" dirty="0">
              <a:solidFill>
                <a:srgbClr val="000000"/>
              </a:solidFill>
              <a:latin typeface="Calibri"/>
              <a:ea typeface="Calibri"/>
              <a:cs typeface="Calibri"/>
            </a:endParaRPr>
          </a:p>
          <a:p>
            <a:pPr marL="457200" lvl="1" indent="0"/>
            <a:r>
              <a:rPr lang="en-US" b="1" dirty="0">
                <a:solidFill>
                  <a:srgbClr val="000000"/>
                </a:solidFill>
                <a:latin typeface="Calibri"/>
                <a:ea typeface="Calibri"/>
                <a:cs typeface="Calibri"/>
              </a:rPr>
              <a:t>Unemployment and Yield Curve</a:t>
            </a:r>
          </a:p>
          <a:p>
            <a:pPr marL="457200" lvl="1" indent="0"/>
            <a:endParaRPr lang="en-US" b="1" dirty="0">
              <a:solidFill>
                <a:srgbClr val="000000"/>
              </a:solidFill>
              <a:latin typeface="Calibri"/>
              <a:ea typeface="Calibri"/>
              <a:cs typeface="Calibri"/>
            </a:endParaRPr>
          </a:p>
          <a:p>
            <a:pPr marL="457200" lvl="1" indent="0"/>
            <a:endParaRPr lang="en-US" b="1" dirty="0">
              <a:solidFill>
                <a:srgbClr val="000000"/>
              </a:solidFill>
              <a:latin typeface="Calibri"/>
              <a:ea typeface="Calibri"/>
              <a:cs typeface="Calibri"/>
            </a:endParaRPr>
          </a:p>
          <a:p>
            <a:pPr marL="457200" lvl="1" indent="0"/>
            <a:r>
              <a:rPr lang="en-US" b="1" dirty="0">
                <a:solidFill>
                  <a:srgbClr val="000000"/>
                </a:solidFill>
                <a:latin typeface="Calibri"/>
                <a:ea typeface="Calibri"/>
                <a:cs typeface="Calibri"/>
              </a:rPr>
              <a:t>Look ahead Bias</a:t>
            </a:r>
          </a:p>
          <a:p>
            <a:pPr marL="457200" lvl="1" indent="0"/>
            <a:r>
              <a:rPr lang="en-US" b="1" dirty="0">
                <a:solidFill>
                  <a:srgbClr val="000000"/>
                </a:solidFill>
                <a:latin typeface="Calibri"/>
                <a:ea typeface="Calibri"/>
                <a:cs typeface="Calibri"/>
              </a:rPr>
              <a:t>	</a:t>
            </a:r>
            <a:r>
              <a:rPr lang="en-US" b="0" dirty="0">
                <a:solidFill>
                  <a:srgbClr val="000000"/>
                </a:solidFill>
                <a:latin typeface="Calibri"/>
                <a:ea typeface="Calibri"/>
                <a:cs typeface="Calibri"/>
              </a:rPr>
              <a:t>Happens when model or analysis uses future information that would not have been available at the time you were trying to make your prediction</a:t>
            </a:r>
            <a:endParaRPr lang="en-US" b="1" dirty="0">
              <a:solidFill>
                <a:srgbClr val="000000"/>
              </a:solidFill>
              <a:latin typeface="Calibri"/>
              <a:ea typeface="Calibri"/>
              <a:cs typeface="Calibri"/>
            </a:endParaRPr>
          </a:p>
        </p:txBody>
      </p:sp>
    </p:spTree>
    <p:extLst>
      <p:ext uri="{BB962C8B-B14F-4D97-AF65-F5344CB8AC3E}">
        <p14:creationId xmlns:p14="http://schemas.microsoft.com/office/powerpoint/2010/main" val="936303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a:latin typeface="Helvetica Neue"/>
                <a:ea typeface="Calibri"/>
                <a:cs typeface="Calibri"/>
              </a:rPr>
              <a:t>Beta</a:t>
            </a:r>
            <a:r>
              <a:rPr lang="en-US">
                <a:latin typeface="Helvetica Neue"/>
                <a:ea typeface="Calibri"/>
                <a:cs typeface="Calibri"/>
              </a:rPr>
              <a:t>- Measures the size and direction of sensitivity. (&gt;1 asset is more volatile than the market, &lt;1 asset is less volatile than the market)</a:t>
            </a:r>
            <a:endParaRPr lang="en-US" b="1">
              <a:latin typeface="Helvetica Neue"/>
              <a:ea typeface="Calibri"/>
              <a:cs typeface="Calibri"/>
            </a:endParaRPr>
          </a:p>
          <a:p>
            <a:r>
              <a:rPr lang="en-US" b="1">
                <a:latin typeface="Helvetica Neue"/>
                <a:ea typeface="Calibri"/>
                <a:cs typeface="Calibri"/>
              </a:rPr>
              <a:t>P-Value</a:t>
            </a:r>
            <a:r>
              <a:rPr lang="en-US">
                <a:latin typeface="Helvetica Neue"/>
                <a:ea typeface="Calibri"/>
                <a:cs typeface="Calibri"/>
              </a:rPr>
              <a:t>—Measures whether the relationship between the macro indicator is statistically significant. (considered significant if &lt;.5)</a:t>
            </a:r>
          </a:p>
          <a:p>
            <a:r>
              <a:rPr lang="en-US" b="1">
                <a:latin typeface="Helvetica Neue"/>
                <a:ea typeface="Calibri"/>
                <a:cs typeface="Calibri"/>
              </a:rPr>
              <a:t>R-Squared</a:t>
            </a:r>
            <a:r>
              <a:rPr lang="en-US">
                <a:latin typeface="Helvetica Neue"/>
                <a:ea typeface="Calibri"/>
                <a:cs typeface="Calibri"/>
              </a:rPr>
              <a:t>—</a:t>
            </a:r>
            <a:r>
              <a:rPr lang="en-US" sz="1800" i="0" u="none" strike="noStrike">
                <a:solidFill>
                  <a:srgbClr val="000000"/>
                </a:solidFill>
                <a:effectLst/>
                <a:latin typeface="Arial"/>
                <a:cs typeface="Arial"/>
              </a:rPr>
              <a:t>How much of the SPY return variability this macro variable can explain.</a:t>
            </a:r>
          </a:p>
          <a:p>
            <a:endParaRPr lang="en-US" sz="1800">
              <a:solidFill>
                <a:srgbClr val="000000"/>
              </a:solidFill>
              <a:latin typeface="Arial"/>
              <a:cs typeface="Arial"/>
            </a:endParaRPr>
          </a:p>
          <a:p>
            <a:endParaRPr lang="en-US">
              <a:solidFill>
                <a:srgbClr val="000000"/>
              </a:solidFill>
            </a:endParaRPr>
          </a:p>
          <a:p>
            <a:pPr marL="342900" indent="-342900">
              <a:buFont typeface="Arial,Sans-Serif"/>
              <a:buChar char="•"/>
            </a:pPr>
            <a:r>
              <a:rPr lang="en-US">
                <a:solidFill>
                  <a:srgbClr val="000000"/>
                </a:solidFill>
              </a:rPr>
              <a:t>What this tells us- SPY movements are driven by many simultaneous factors, not one macro variable</a:t>
            </a:r>
          </a:p>
          <a:p>
            <a:endParaRPr lang="en-US">
              <a:solidFill>
                <a:srgbClr val="000000"/>
              </a:solidFill>
            </a:endParaRPr>
          </a:p>
          <a:p>
            <a:r>
              <a:rPr lang="en-US">
                <a:solidFill>
                  <a:srgbClr val="000000"/>
                </a:solidFill>
              </a:rPr>
              <a:t>Results- It is normal to not find much significance while using single variables—You need multi-factor models to get a stronger prediction signal</a:t>
            </a:r>
          </a:p>
          <a:p>
            <a:endParaRPr lang="en-US" sz="1800">
              <a:solidFill>
                <a:srgbClr val="000000"/>
              </a:solidFill>
              <a:latin typeface="Arial"/>
              <a:cs typeface="Arial"/>
            </a:endParaRPr>
          </a:p>
        </p:txBody>
      </p:sp>
    </p:spTree>
    <p:extLst>
      <p:ext uri="{BB962C8B-B14F-4D97-AF65-F5344CB8AC3E}">
        <p14:creationId xmlns:p14="http://schemas.microsoft.com/office/powerpoint/2010/main" val="1547022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fontAlgn="t"/>
            <a:r>
              <a:rPr lang="en-US" sz="1800" b="1" i="0" u="none" strike="noStrike" baseline="0" dirty="0">
                <a:solidFill>
                  <a:srgbClr val="000000"/>
                </a:solidFill>
                <a:effectLst/>
                <a:latin typeface="Arial" panose="020B0604020202020204" pitchFamily="34" charset="0"/>
              </a:rPr>
              <a:t>R</a:t>
            </a:r>
            <a:r>
              <a:rPr lang="en-US" sz="1800" b="1" i="0" u="none" strike="noStrike" baseline="30000" dirty="0">
                <a:solidFill>
                  <a:srgbClr val="000000"/>
                </a:solidFill>
                <a:effectLst/>
                <a:latin typeface="Arial" panose="020B0604020202020204" pitchFamily="34" charset="0"/>
              </a:rPr>
              <a:t>2</a:t>
            </a:r>
            <a:r>
              <a:rPr lang="en-US" sz="1800" b="0" i="0" u="none" strike="noStrike" baseline="0" dirty="0">
                <a:solidFill>
                  <a:srgbClr val="000000"/>
                </a:solidFill>
                <a:effectLst/>
                <a:latin typeface="Arial" panose="020B0604020202020204" pitchFamily="34" charset="0"/>
              </a:rPr>
              <a:t>- only</a:t>
            </a:r>
            <a:r>
              <a:rPr lang="en-US" sz="1800" b="0" i="0" u="none" strike="noStrike" dirty="0">
                <a:solidFill>
                  <a:srgbClr val="000000"/>
                </a:solidFill>
                <a:effectLst/>
                <a:latin typeface="Arial" panose="020B0604020202020204" pitchFamily="34" charset="0"/>
              </a:rPr>
              <a:t> </a:t>
            </a:r>
            <a:r>
              <a:rPr lang="en-US" sz="1800" b="1" i="0" u="none" strike="noStrike" dirty="0">
                <a:solidFill>
                  <a:srgbClr val="000000"/>
                </a:solidFill>
                <a:effectLst/>
                <a:latin typeface="Arial" panose="020B0604020202020204" pitchFamily="34" charset="0"/>
              </a:rPr>
              <a:t>3.4%</a:t>
            </a:r>
            <a:r>
              <a:rPr lang="en-US" sz="1800" b="0" i="0" u="none" strike="noStrike" dirty="0">
                <a:solidFill>
                  <a:srgbClr val="000000"/>
                </a:solidFill>
                <a:effectLst/>
                <a:latin typeface="Arial" panose="020B0604020202020204" pitchFamily="34" charset="0"/>
              </a:rPr>
              <a:t> of SPY return variance is explained by this macro model</a:t>
            </a:r>
          </a:p>
          <a:p>
            <a:pPr rtl="0" fontAlgn="t"/>
            <a:endParaRPr lang="en-US" dirty="0">
              <a:effectLst/>
            </a:endParaRPr>
          </a:p>
          <a:p>
            <a:pPr rtl="0" fontAlgn="t"/>
            <a:r>
              <a:rPr lang="en-US" sz="1800" b="1" i="0" u="none" strike="noStrike" dirty="0">
                <a:solidFill>
                  <a:srgbClr val="000000"/>
                </a:solidFill>
                <a:effectLst/>
                <a:latin typeface="Arial" panose="020B0604020202020204" pitchFamily="34" charset="0"/>
              </a:rPr>
              <a:t>Adj. R</a:t>
            </a:r>
            <a:r>
              <a:rPr lang="en-US" sz="1800" b="1" i="0" u="none" strike="noStrike" baseline="30000" dirty="0">
                <a:solidFill>
                  <a:srgbClr val="000000"/>
                </a:solidFill>
                <a:effectLst/>
                <a:latin typeface="Arial" panose="020B0604020202020204" pitchFamily="34" charset="0"/>
              </a:rPr>
              <a:t>2</a:t>
            </a:r>
            <a:r>
              <a:rPr lang="en-US" sz="1800" b="0" i="0" u="none" strike="noStrike" dirty="0">
                <a:solidFill>
                  <a:srgbClr val="000000"/>
                </a:solidFill>
                <a:effectLst/>
                <a:latin typeface="Arial" panose="020B0604020202020204" pitchFamily="34" charset="0"/>
              </a:rPr>
              <a:t> - Even less when adjusted for 8 predictors</a:t>
            </a:r>
            <a:endParaRPr lang="en-US" dirty="0">
              <a:effectLst/>
            </a:endParaRPr>
          </a:p>
          <a:p>
            <a:pPr rtl="0" fontAlgn="t"/>
            <a:endParaRPr lang="en-US" sz="1800" b="0" i="0" u="none" strike="noStrike" dirty="0">
              <a:solidFill>
                <a:srgbClr val="000000"/>
              </a:solidFill>
              <a:effectLst/>
              <a:latin typeface="Arial" panose="020B0604020202020204" pitchFamily="34" charset="0"/>
            </a:endParaRPr>
          </a:p>
          <a:p>
            <a:pPr rtl="0" fontAlgn="t"/>
            <a:r>
              <a:rPr lang="en-US" sz="1800" b="0" i="0" u="none" strike="noStrike" dirty="0">
                <a:solidFill>
                  <a:srgbClr val="000000"/>
                </a:solidFill>
                <a:effectLst/>
                <a:latin typeface="Arial" panose="020B0604020202020204" pitchFamily="34" charset="0"/>
              </a:rPr>
              <a:t>(&gt;0.05) The overall model is </a:t>
            </a:r>
            <a:r>
              <a:rPr lang="en-US" sz="1800" b="1" i="0" u="none" strike="noStrike" dirty="0">
                <a:solidFill>
                  <a:srgbClr val="000000"/>
                </a:solidFill>
                <a:effectLst/>
                <a:latin typeface="Arial" panose="020B0604020202020204" pitchFamily="34" charset="0"/>
              </a:rPr>
              <a:t>not statistically significant</a:t>
            </a:r>
          </a:p>
          <a:p>
            <a:pPr rtl="0" fontAlgn="t"/>
            <a:r>
              <a:rPr lang="en-US" sz="1800" b="0" i="0" u="none" strike="noStrike" dirty="0">
                <a:solidFill>
                  <a:srgbClr val="000000"/>
                </a:solidFill>
                <a:effectLst/>
                <a:latin typeface="Arial" panose="020B0604020202020204" pitchFamily="34" charset="0"/>
              </a:rPr>
              <a:t>The individual predictors do not collectively </a:t>
            </a:r>
          </a:p>
          <a:p>
            <a:pPr rtl="0" fontAlgn="t"/>
            <a:endParaRPr lang="en-US" dirty="0">
              <a:effectLst/>
            </a:endParaRPr>
          </a:p>
          <a:p>
            <a:pPr rtl="0" fontAlgn="t"/>
            <a:r>
              <a:rPr lang="en-US" sz="1800" b="0" i="0" u="none" strike="noStrike" dirty="0">
                <a:solidFill>
                  <a:srgbClr val="000000"/>
                </a:solidFill>
                <a:effectLst/>
                <a:latin typeface="Arial" panose="020B0604020202020204" pitchFamily="34" charset="0"/>
              </a:rPr>
              <a:t>(&gt;0.4) No </a:t>
            </a:r>
            <a:r>
              <a:rPr lang="en-US" sz="1800" b="1" i="0" u="none" strike="noStrike" dirty="0">
                <a:solidFill>
                  <a:srgbClr val="000000"/>
                </a:solidFill>
                <a:effectLst/>
                <a:latin typeface="Arial" panose="020B0604020202020204" pitchFamily="34" charset="0"/>
              </a:rPr>
              <a:t>single predictor</a:t>
            </a:r>
            <a:r>
              <a:rPr lang="en-US" sz="1800" b="0" i="0" u="none" strike="noStrike" dirty="0">
                <a:solidFill>
                  <a:srgbClr val="000000"/>
                </a:solidFill>
                <a:effectLst/>
                <a:latin typeface="Arial" panose="020B0604020202020204" pitchFamily="34" charset="0"/>
              </a:rPr>
              <a:t> is significant in this multivariate setting – little to no linear relationship with response variable.</a:t>
            </a:r>
          </a:p>
          <a:p>
            <a:endParaRPr lang="en-US" dirty="0">
              <a:effectLst/>
            </a:endParaRPr>
          </a:p>
          <a:p>
            <a:r>
              <a:rPr lang="en-US" dirty="0"/>
              <a:t>You </a:t>
            </a:r>
            <a:r>
              <a:rPr lang="en-US" b="1" dirty="0"/>
              <a:t>fail to reject the null hypothesis</a:t>
            </a:r>
            <a:r>
              <a:rPr lang="en-US" dirty="0"/>
              <a:t> that its coefficient is zero. </a:t>
            </a:r>
            <a:r>
              <a:rPr lang="en-US" b="1" dirty="0"/>
              <a:t>Meaning:</a:t>
            </a:r>
            <a:endParaRPr lang="en-US" dirty="0"/>
          </a:p>
          <a:p>
            <a:endParaRPr lang="en-US" dirty="0"/>
          </a:p>
          <a:p>
            <a:r>
              <a:rPr lang="en-US" dirty="0"/>
              <a:t>The data does </a:t>
            </a:r>
            <a:r>
              <a:rPr lang="en-US" b="1" dirty="0"/>
              <a:t>not provide sufficient evidence</a:t>
            </a:r>
            <a:r>
              <a:rPr lang="en-US" dirty="0"/>
              <a:t> that the predictor is related to the response variable.</a:t>
            </a:r>
          </a:p>
          <a:p>
            <a:endParaRPr lang="en-US" dirty="0"/>
          </a:p>
          <a:p>
            <a:r>
              <a:rPr lang="en-US" dirty="0"/>
              <a:t>Hence, it likely has </a:t>
            </a:r>
            <a:r>
              <a:rPr lang="en-US" b="1" dirty="0"/>
              <a:t>little or no explanatory power</a:t>
            </a:r>
            <a:r>
              <a:rPr lang="en-US" dirty="0"/>
              <a:t> in the context of the model.</a:t>
            </a:r>
          </a:p>
          <a:p>
            <a:endParaRPr lang="en-US" dirty="0">
              <a:effectLst/>
            </a:endParaRPr>
          </a:p>
          <a:p>
            <a:r>
              <a:rPr lang="en-US" b="1" dirty="0">
                <a:effectLst/>
              </a:rPr>
              <a:t>Poor P-Values can be explained by:</a:t>
            </a:r>
          </a:p>
          <a:p>
            <a:endParaRPr lang="en-US" dirty="0">
              <a:effectLst/>
            </a:endParaRPr>
          </a:p>
          <a:p>
            <a:pPr rtl="0" fontAlgn="t"/>
            <a:r>
              <a:rPr lang="en-US" sz="1800" b="0" i="0" u="none" strike="noStrike" dirty="0">
                <a:solidFill>
                  <a:srgbClr val="000000"/>
                </a:solidFill>
                <a:effectLst/>
                <a:latin typeface="Arial" panose="020B0604020202020204" pitchFamily="34" charset="0"/>
              </a:rPr>
              <a:t>Error Condition Number:</a:t>
            </a:r>
          </a:p>
          <a:p>
            <a:pPr rtl="0" fontAlgn="t"/>
            <a:r>
              <a:rPr lang="en-US" sz="1800" b="0" i="0" u="none" strike="noStrike" dirty="0">
                <a:solidFill>
                  <a:srgbClr val="000000"/>
                </a:solidFill>
                <a:effectLst/>
                <a:latin typeface="Arial" panose="020B0604020202020204" pitchFamily="34" charset="0"/>
              </a:rPr>
              <a:t>           Warning of </a:t>
            </a:r>
            <a:r>
              <a:rPr lang="en-US" sz="1800" b="1" i="0" u="none" strike="noStrike" dirty="0">
                <a:solidFill>
                  <a:srgbClr val="000000"/>
                </a:solidFill>
                <a:effectLst/>
                <a:latin typeface="Arial" panose="020B0604020202020204" pitchFamily="34" charset="0"/>
              </a:rPr>
              <a:t>multicollinearity</a:t>
            </a:r>
            <a:r>
              <a:rPr lang="en-US" sz="1800" b="0" i="0" u="none" strike="noStrike" dirty="0">
                <a:solidFill>
                  <a:srgbClr val="000000"/>
                </a:solidFill>
                <a:effectLst/>
                <a:latin typeface="Arial" panose="020B0604020202020204" pitchFamily="34" charset="0"/>
              </a:rPr>
              <a:t> (too much correlation between predictors)</a:t>
            </a:r>
          </a:p>
          <a:p>
            <a:pPr rtl="0" fontAlgn="t"/>
            <a:endParaRPr lang="en-US" sz="1800" b="0" i="0" u="none" strike="noStrike" dirty="0">
              <a:solidFill>
                <a:srgbClr val="000000"/>
              </a:solidFill>
              <a:effectLst/>
              <a:latin typeface="Arial" panose="020B0604020202020204" pitchFamily="34" charset="0"/>
            </a:endParaRPr>
          </a:p>
          <a:p>
            <a:pPr rtl="0" fontAlgn="t"/>
            <a:r>
              <a:rPr lang="en-US" sz="1800" b="0" i="0" u="none" strike="noStrike" dirty="0">
                <a:solidFill>
                  <a:srgbClr val="000000"/>
                </a:solidFill>
                <a:effectLst/>
                <a:latin typeface="Arial" panose="020B0604020202020204" pitchFamily="34" charset="0"/>
              </a:rPr>
              <a:t>Meaning that the predictor variables are </a:t>
            </a:r>
            <a:r>
              <a:rPr lang="en-US" sz="1800" b="1" i="0" u="none" strike="noStrike" dirty="0">
                <a:solidFill>
                  <a:srgbClr val="000000"/>
                </a:solidFill>
                <a:effectLst/>
                <a:latin typeface="Arial" panose="020B0604020202020204" pitchFamily="34" charset="0"/>
              </a:rPr>
              <a:t>not</a:t>
            </a:r>
            <a:r>
              <a:rPr lang="en-US" sz="1800" b="0" i="0" u="none" strike="noStrike" dirty="0">
                <a:solidFill>
                  <a:srgbClr val="000000"/>
                </a:solidFill>
                <a:effectLst/>
                <a:latin typeface="Arial" panose="020B0604020202020204" pitchFamily="34" charset="0"/>
              </a:rPr>
              <a:t> necessarily completely </a:t>
            </a:r>
            <a:r>
              <a:rPr lang="en-US" sz="1800" b="1" i="0" u="none" strike="noStrike" dirty="0">
                <a:solidFill>
                  <a:srgbClr val="000000"/>
                </a:solidFill>
                <a:effectLst/>
                <a:latin typeface="Arial" panose="020B0604020202020204" pitchFamily="34" charset="0"/>
              </a:rPr>
              <a:t>independent</a:t>
            </a:r>
            <a:r>
              <a:rPr lang="en-US" sz="1800" b="0" i="0" u="none" strike="noStrike" dirty="0">
                <a:solidFill>
                  <a:srgbClr val="000000"/>
                </a:solidFill>
                <a:effectLst/>
                <a:latin typeface="Arial" panose="020B0604020202020204" pitchFamily="34" charset="0"/>
              </a:rPr>
              <a:t> of one another.</a:t>
            </a:r>
          </a:p>
          <a:p>
            <a:pPr rtl="0" fontAlgn="t"/>
            <a:endParaRPr lang="en-US" sz="1800" b="0" i="0" u="none" strike="noStrike" dirty="0">
              <a:solidFill>
                <a:srgbClr val="000000"/>
              </a:solidFill>
              <a:effectLst/>
              <a:latin typeface="Arial" panose="020B0604020202020204" pitchFamily="34" charset="0"/>
            </a:endParaRPr>
          </a:p>
          <a:p>
            <a:pPr rtl="0" fontAlgn="t"/>
            <a:r>
              <a:rPr lang="en-US" sz="1800" b="0" i="0" u="none" strike="noStrike" dirty="0">
                <a:solidFill>
                  <a:srgbClr val="000000"/>
                </a:solidFill>
                <a:effectLst/>
                <a:latin typeface="Arial" panose="020B0604020202020204" pitchFamily="34" charset="0"/>
              </a:rPr>
              <a:t>Example:</a:t>
            </a:r>
          </a:p>
          <a:p>
            <a:pPr rtl="0" fontAlgn="t"/>
            <a:r>
              <a:rPr lang="en-US" sz="1800" b="0" i="0" u="none" strike="noStrike" dirty="0">
                <a:solidFill>
                  <a:srgbClr val="000000"/>
                </a:solidFill>
                <a:effectLst/>
                <a:latin typeface="Arial" panose="020B0604020202020204" pitchFamily="34" charset="0"/>
              </a:rPr>
              <a:t>Codependence – Think of </a:t>
            </a:r>
            <a:r>
              <a:rPr lang="en-US" sz="1800" b="1" i="0" u="none" strike="noStrike" dirty="0">
                <a:solidFill>
                  <a:srgbClr val="000000"/>
                </a:solidFill>
                <a:effectLst/>
                <a:latin typeface="Arial" panose="020B0604020202020204" pitchFamily="34" charset="0"/>
              </a:rPr>
              <a:t>Phillips Curve</a:t>
            </a:r>
            <a:r>
              <a:rPr lang="en-US" sz="1800" b="0" i="0" u="none" strike="noStrike" dirty="0">
                <a:solidFill>
                  <a:srgbClr val="000000"/>
                </a:solidFill>
                <a:effectLst/>
                <a:latin typeface="Arial" panose="020B0604020202020204" pitchFamily="34" charset="0"/>
              </a:rPr>
              <a:t> (direct short-run correlation between unemployment and inflation (trade-off).</a:t>
            </a:r>
          </a:p>
          <a:p>
            <a:pPr rtl="0" fontAlgn="t"/>
            <a:endParaRPr lang="en-US" sz="1800" b="0" i="0" u="none" strike="noStrike" dirty="0">
              <a:solidFill>
                <a:srgbClr val="000000"/>
              </a:solidFill>
              <a:effectLst/>
              <a:latin typeface="Arial" panose="020B0604020202020204" pitchFamily="34" charset="0"/>
            </a:endParaRPr>
          </a:p>
          <a:p>
            <a:pPr rtl="0" fontAlgn="t"/>
            <a:endParaRPr lang="en-US" sz="1800" b="0" i="0" u="none" strike="noStrike" dirty="0">
              <a:solidFill>
                <a:srgbClr val="000000"/>
              </a:solidFill>
              <a:effectLst/>
              <a:latin typeface="Arial" panose="020B0604020202020204" pitchFamily="34" charset="0"/>
            </a:endParaRPr>
          </a:p>
          <a:p>
            <a:pPr rtl="0" fontAlgn="t"/>
            <a:r>
              <a:rPr lang="en-US" sz="1800" b="0" i="0" u="none" strike="noStrike" dirty="0">
                <a:solidFill>
                  <a:srgbClr val="000000"/>
                </a:solidFill>
                <a:effectLst/>
                <a:latin typeface="Arial" panose="020B0604020202020204" pitchFamily="34" charset="0"/>
              </a:rPr>
              <a:t> </a:t>
            </a:r>
            <a:endParaRPr lang="en-US" dirty="0">
              <a:effectLst/>
            </a:endParaRPr>
          </a:p>
          <a:p>
            <a:endParaRPr lang="en-US" dirty="0"/>
          </a:p>
        </p:txBody>
      </p:sp>
    </p:spTree>
    <p:extLst>
      <p:ext uri="{BB962C8B-B14F-4D97-AF65-F5344CB8AC3E}">
        <p14:creationId xmlns:p14="http://schemas.microsoft.com/office/powerpoint/2010/main" val="1187241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a:t>Beta &gt; 1</a:t>
            </a:r>
            <a:r>
              <a:rPr lang="en-US"/>
              <a:t>: The asset is </a:t>
            </a:r>
            <a:r>
              <a:rPr lang="en-US" b="1"/>
              <a:t>more volatile</a:t>
            </a:r>
            <a:r>
              <a:rPr lang="en-US"/>
              <a:t> than the market. For example, beta of 1.5 means if the market goes up 5%, the asset might go up 7.5%.</a:t>
            </a:r>
          </a:p>
          <a:p>
            <a:endParaRPr lang="en-US"/>
          </a:p>
          <a:p>
            <a:r>
              <a:rPr lang="en-US" b="1"/>
              <a:t>Beta &lt; 1</a:t>
            </a:r>
            <a:r>
              <a:rPr lang="en-US"/>
              <a:t> (but &gt; 0): The asset is </a:t>
            </a:r>
            <a:r>
              <a:rPr lang="en-US" b="1"/>
              <a:t>less volatile</a:t>
            </a:r>
            <a:r>
              <a:rPr lang="en-US"/>
              <a:t> than the market. A beta of 0.5 implies that if the market rises 5%, the asset might rise 2.5%.</a:t>
            </a:r>
          </a:p>
          <a:p>
            <a:endParaRPr lang="en-US"/>
          </a:p>
          <a:p>
            <a:r>
              <a:rPr lang="en-US" b="1"/>
              <a:t>Beta &lt; 0</a:t>
            </a:r>
            <a:r>
              <a:rPr lang="en-US"/>
              <a:t>: The asset moves </a:t>
            </a:r>
            <a:r>
              <a:rPr lang="en-US" b="1"/>
              <a:t>opposite</a:t>
            </a:r>
            <a:r>
              <a:rPr lang="en-US"/>
              <a:t> the market. </a:t>
            </a:r>
          </a:p>
        </p:txBody>
      </p:sp>
    </p:spTree>
    <p:extLst>
      <p:ext uri="{BB962C8B-B14F-4D97-AF65-F5344CB8AC3E}">
        <p14:creationId xmlns:p14="http://schemas.microsoft.com/office/powerpoint/2010/main" val="731769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Does past information about variable x help predict Y, beyond what past Y already tells us?</a:t>
            </a:r>
          </a:p>
          <a:p>
            <a:pPr marL="342900" indent="-342900">
              <a:buFont typeface="Arial" panose="020B0604020202020204" pitchFamily="34" charset="0"/>
              <a:buChar char="•"/>
            </a:pPr>
            <a:r>
              <a:rPr lang="en-US" dirty="0"/>
              <a:t>In this case, does a lagged Macro Variable help predict SPY returns?</a:t>
            </a:r>
          </a:p>
        </p:txBody>
      </p:sp>
    </p:spTree>
    <p:extLst>
      <p:ext uri="{BB962C8B-B14F-4D97-AF65-F5344CB8AC3E}">
        <p14:creationId xmlns:p14="http://schemas.microsoft.com/office/powerpoint/2010/main" val="201474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solidFill>
                <a:srgbClr val="000000"/>
              </a:solidFill>
              <a:latin typeface="Calibri"/>
              <a:ea typeface="Calibri"/>
              <a:cs typeface="Calibri"/>
            </a:endParaRPr>
          </a:p>
        </p:txBody>
      </p:sp>
    </p:spTree>
    <p:extLst>
      <p:ext uri="{BB962C8B-B14F-4D97-AF65-F5344CB8AC3E}">
        <p14:creationId xmlns:p14="http://schemas.microsoft.com/office/powerpoint/2010/main" val="3518957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Lagging to see multi-period impact on indicator variables</a:t>
            </a:r>
          </a:p>
          <a:p>
            <a:endParaRPr lang="en-US" dirty="0"/>
          </a:p>
          <a:p>
            <a:r>
              <a:rPr lang="en-US" dirty="0"/>
              <a:t>Multi regression to see impact of multiple variables since individual was too weak for predictive power.</a:t>
            </a:r>
          </a:p>
          <a:p>
            <a:endParaRPr lang="en-US" dirty="0"/>
          </a:p>
          <a:p>
            <a:endParaRPr lang="en-US" dirty="0"/>
          </a:p>
        </p:txBody>
      </p:sp>
    </p:spTree>
    <p:extLst>
      <p:ext uri="{BB962C8B-B14F-4D97-AF65-F5344CB8AC3E}">
        <p14:creationId xmlns:p14="http://schemas.microsoft.com/office/powerpoint/2010/main" val="7361122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eneral">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CB57ED-E388-2261-7CAC-43D04883C264}"/>
              </a:ext>
            </a:extLst>
          </p:cNvPr>
          <p:cNvSpPr/>
          <p:nvPr userDrawn="1"/>
        </p:nvSpPr>
        <p:spPr>
          <a:xfrm>
            <a:off x="0" y="0"/>
            <a:ext cx="24384000" cy="13716000"/>
          </a:xfrm>
          <a:prstGeom prst="rect">
            <a:avLst/>
          </a:prstGeom>
          <a:solidFill>
            <a:srgbClr val="0C111D">
              <a:alpha val="8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uthor and Date"/>
          <p:cNvSpPr txBox="1">
            <a:spLocks noGrp="1"/>
          </p:cNvSpPr>
          <p:nvPr>
            <p:ph type="body" sz="quarter" idx="21" hasCustomPrompt="1"/>
          </p:nvPr>
        </p:nvSpPr>
        <p:spPr>
          <a:xfrm>
            <a:off x="1201340" y="12154552"/>
            <a:ext cx="22530530" cy="636979"/>
          </a:xfrm>
          <a:prstGeom prst="rect">
            <a:avLst/>
          </a:prstGeom>
        </p:spPr>
        <p:txBody>
          <a:bodyPr lIns="0" tIns="45719" rIns="45719" bIns="45719"/>
          <a:lstStyle>
            <a:lvl1pPr marL="0" indent="0" defTabSz="825500">
              <a:lnSpc>
                <a:spcPct val="100000"/>
              </a:lnSpc>
              <a:spcBef>
                <a:spcPts val="0"/>
              </a:spcBef>
              <a:buSzTx/>
              <a:buNone/>
              <a:defRPr sz="3600" b="0" i="0">
                <a:solidFill>
                  <a:srgbClr val="D5D5D5"/>
                </a:solidFill>
                <a:latin typeface="Poppins Medium" pitchFamily="2" charset="77"/>
                <a:cs typeface="Poppins Medium" pitchFamily="2" charset="77"/>
              </a:defRPr>
            </a:lvl1pPr>
          </a:lstStyle>
          <a:p>
            <a:r>
              <a:t>Author and Date</a:t>
            </a:r>
          </a:p>
        </p:txBody>
      </p:sp>
      <p:sp>
        <p:nvSpPr>
          <p:cNvPr id="12" name="Presentation Title"/>
          <p:cNvSpPr txBox="1">
            <a:spLocks noGrp="1"/>
          </p:cNvSpPr>
          <p:nvPr>
            <p:ph type="title" hasCustomPrompt="1"/>
          </p:nvPr>
        </p:nvSpPr>
        <p:spPr>
          <a:xfrm>
            <a:off x="1206496" y="2574991"/>
            <a:ext cx="22525374" cy="4648201"/>
          </a:xfrm>
          <a:prstGeom prst="rect">
            <a:avLst/>
          </a:prstGeom>
        </p:spPr>
        <p:txBody>
          <a:bodyPr lIns="0" anchor="b"/>
          <a:lstStyle>
            <a:lvl1pPr>
              <a:defRPr sz="11600" b="1" i="0" spc="-232">
                <a:solidFill>
                  <a:schemeClr val="tx1"/>
                </a:solidFill>
                <a:latin typeface="Inter SemiBold" panose="02000503000000020004" pitchFamily="2" charset="0"/>
                <a:ea typeface="Inter SemiBold" panose="02000503000000020004" pitchFamily="2" charset="0"/>
              </a:defRPr>
            </a:lvl1pPr>
          </a:lstStyle>
          <a:p>
            <a:r>
              <a:t>Presentation Title</a:t>
            </a:r>
          </a:p>
        </p:txBody>
      </p:sp>
      <p:sp>
        <p:nvSpPr>
          <p:cNvPr id="13" name="Body Level One…"/>
          <p:cNvSpPr txBox="1">
            <a:spLocks noGrp="1"/>
          </p:cNvSpPr>
          <p:nvPr>
            <p:ph type="body" sz="quarter" idx="1" hasCustomPrompt="1"/>
          </p:nvPr>
        </p:nvSpPr>
        <p:spPr>
          <a:xfrm>
            <a:off x="1201342" y="7223190"/>
            <a:ext cx="22530528" cy="1905001"/>
          </a:xfrm>
          <a:prstGeom prst="rect">
            <a:avLst/>
          </a:prstGeom>
        </p:spPr>
        <p:txBody>
          <a:bodyPr lIns="0"/>
          <a:lstStyle>
            <a:lvl1pPr marL="0" indent="0" defTabSz="825500">
              <a:lnSpc>
                <a:spcPct val="100000"/>
              </a:lnSpc>
              <a:spcBef>
                <a:spcPts val="0"/>
              </a:spcBef>
              <a:buSzTx/>
              <a:buNone/>
              <a:defRPr sz="5500" b="0" i="0">
                <a:solidFill>
                  <a:srgbClr val="D5D5D5"/>
                </a:solidFill>
                <a:latin typeface="Inter Medium" panose="02000503000000020004" pitchFamily="2" charset="0"/>
                <a:ea typeface="Inter Medium" panose="02000503000000020004" pitchFamily="2" charset="0"/>
                <a:cs typeface="Poppins Medium" pitchFamily="2" charset="77"/>
              </a:defRPr>
            </a:lvl1pPr>
            <a:lvl2pPr marL="0" indent="457200" defTabSz="825500">
              <a:lnSpc>
                <a:spcPct val="100000"/>
              </a:lnSpc>
              <a:spcBef>
                <a:spcPts val="0"/>
              </a:spcBef>
              <a:buSzTx/>
              <a:buNone/>
              <a:defRPr sz="5500" b="0" i="0">
                <a:solidFill>
                  <a:srgbClr val="D5D5D5"/>
                </a:solidFill>
                <a:latin typeface="Poppins Medium" pitchFamily="2" charset="77"/>
                <a:cs typeface="Poppins Medium" pitchFamily="2" charset="77"/>
              </a:defRPr>
            </a:lvl2pPr>
            <a:lvl3pPr marL="0" indent="914400" defTabSz="825500">
              <a:lnSpc>
                <a:spcPct val="100000"/>
              </a:lnSpc>
              <a:spcBef>
                <a:spcPts val="0"/>
              </a:spcBef>
              <a:buSzTx/>
              <a:buNone/>
              <a:defRPr sz="5500" b="0" i="0">
                <a:solidFill>
                  <a:srgbClr val="D5D5D5"/>
                </a:solidFill>
                <a:latin typeface="Poppins Medium" pitchFamily="2" charset="77"/>
                <a:cs typeface="Poppins Medium" pitchFamily="2" charset="77"/>
              </a:defRPr>
            </a:lvl3pPr>
            <a:lvl4pPr marL="0" indent="1371600" defTabSz="825500">
              <a:lnSpc>
                <a:spcPct val="100000"/>
              </a:lnSpc>
              <a:spcBef>
                <a:spcPts val="0"/>
              </a:spcBef>
              <a:buSzTx/>
              <a:buNone/>
              <a:defRPr sz="5500" b="0" i="0">
                <a:solidFill>
                  <a:srgbClr val="D5D5D5"/>
                </a:solidFill>
                <a:latin typeface="Poppins Medium" pitchFamily="2" charset="77"/>
                <a:cs typeface="Poppins Medium" pitchFamily="2" charset="77"/>
              </a:defRPr>
            </a:lvl4pPr>
            <a:lvl5pPr marL="0" indent="1828800" defTabSz="825500">
              <a:lnSpc>
                <a:spcPct val="100000"/>
              </a:lnSpc>
              <a:spcBef>
                <a:spcPts val="0"/>
              </a:spcBef>
              <a:buSzTx/>
              <a:buNone/>
              <a:defRPr sz="5500" b="0" i="0">
                <a:solidFill>
                  <a:srgbClr val="D5D5D5"/>
                </a:solidFill>
                <a:latin typeface="Poppins Medium" pitchFamily="2" charset="77"/>
                <a:cs typeface="Poppins Medium" pitchFamily="2" charset="77"/>
              </a:defRPr>
            </a:lvl5pPr>
          </a:lstStyle>
          <a:p>
            <a:r>
              <a:t>Presentation Subtitle</a:t>
            </a:r>
          </a:p>
          <a:p>
            <a:pPr lvl="1"/>
            <a:endParaRPr/>
          </a:p>
          <a:p>
            <a:pPr lvl="2"/>
            <a:endParaRPr/>
          </a:p>
          <a:p>
            <a:pPr lvl="3"/>
            <a:endParaRPr/>
          </a:p>
          <a:p>
            <a:pPr lvl="4"/>
            <a:endParaRPr/>
          </a:p>
        </p:txBody>
      </p:sp>
      <p:pic>
        <p:nvPicPr>
          <p:cNvPr id="4" name="Picture 3">
            <a:extLst>
              <a:ext uri="{FF2B5EF4-FFF2-40B4-BE49-F238E27FC236}">
                <a16:creationId xmlns:a16="http://schemas.microsoft.com/office/drawing/2014/main" id="{4D62AAA5-C244-1EAD-2BC7-07AD55BBB3F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2145552" y="13080986"/>
            <a:ext cx="1642508" cy="226659"/>
          </a:xfrm>
          <a:prstGeom prst="rect">
            <a:avLst/>
          </a:prstGeom>
        </p:spPr>
      </p:pic>
      <p:cxnSp>
        <p:nvCxnSpPr>
          <p:cNvPr id="5" name="Straight Connector 4">
            <a:extLst>
              <a:ext uri="{FF2B5EF4-FFF2-40B4-BE49-F238E27FC236}">
                <a16:creationId xmlns:a16="http://schemas.microsoft.com/office/drawing/2014/main" id="{53947A55-4C4D-D6EC-C9AF-68C36E3CB15D}"/>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CBC97255-0884-8B0D-FB68-1CBD2DCBF4ED}"/>
              </a:ext>
            </a:extLst>
          </p:cNvPr>
          <p:cNvSpPr txBox="1"/>
          <p:nvPr userDrawn="1"/>
        </p:nvSpPr>
        <p:spPr>
          <a:xfrm>
            <a:off x="1201340" y="12983103"/>
            <a:ext cx="12192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rIns="0">
            <a:spAutoFit/>
          </a:bodyPr>
          <a:lstStyle/>
          <a:p>
            <a:pPr algn="l"/>
            <a:r>
              <a:rPr lang="en-US" sz="1200">
                <a:solidFill>
                  <a:srgbClr val="D3D3D3"/>
                </a:solidFill>
              </a:rPr>
              <a:t>©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3672506428"/>
      </p:ext>
    </p:extLst>
  </p:cSld>
  <p:clrMapOvr>
    <a:overrideClrMapping bg1="lt1" tx1="dk1" bg2="lt2" tx2="dk2" accent1="accent1" accent2="accent2" accent3="accent3" accent4="accent4" accent5="accent5" accent6="accent6" hlink="hlink" folHlink="folHlink"/>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B948B25D-BC1D-522F-3028-8FB5F20EBEA5}"/>
              </a:ext>
            </a:extLst>
          </p:cNvPr>
          <p:cNvSpPr>
            <a:spLocks noGrp="1"/>
          </p:cNvSpPr>
          <p:nvPr>
            <p:ph idx="1"/>
          </p:nvPr>
        </p:nvSpPr>
        <p:spPr>
          <a:xfrm>
            <a:off x="914400" y="3209366"/>
            <a:ext cx="22481241" cy="91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799"/>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4" name="Slide Number">
            <a:extLst>
              <a:ext uri="{FF2B5EF4-FFF2-40B4-BE49-F238E27FC236}">
                <a16:creationId xmlns:a16="http://schemas.microsoft.com/office/drawing/2014/main" id="{E3029983-65FA-A49F-7DE4-4080D73632D3}"/>
              </a:ext>
            </a:extLst>
          </p:cNvPr>
          <p:cNvSpPr txBox="1">
            <a:spLocks noGrp="1"/>
          </p:cNvSpPr>
          <p:nvPr>
            <p:ph type="sldNum" sz="quarter" idx="2"/>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7395791"/>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9D7139-5A64-A10F-2EAB-BD702394E4E5}"/>
              </a:ext>
            </a:extLst>
          </p:cNvPr>
          <p:cNvSpPr>
            <a:spLocks noGrp="1"/>
          </p:cNvSpPr>
          <p:nvPr>
            <p:ph sz="half" idx="1"/>
          </p:nvPr>
        </p:nvSpPr>
        <p:spPr>
          <a:xfrm>
            <a:off x="914400"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1B195-19A4-1223-7B33-C6B612B2CD5E}"/>
              </a:ext>
            </a:extLst>
          </p:cNvPr>
          <p:cNvSpPr>
            <a:spLocks noGrp="1"/>
          </p:cNvSpPr>
          <p:nvPr>
            <p:ph sz="half" idx="2"/>
          </p:nvPr>
        </p:nvSpPr>
        <p:spPr>
          <a:xfrm>
            <a:off x="13142258" y="3209365"/>
            <a:ext cx="10327342" cy="9146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426FA0E-AED5-5ACC-6263-82A574D87B8B}"/>
              </a:ext>
            </a:extLst>
          </p:cNvPr>
          <p:cNvSpPr>
            <a:spLocks noGrp="1"/>
          </p:cNvSpPr>
          <p:nvPr>
            <p:ph type="body" sz="quarter" idx="13" hasCustomPrompt="1"/>
          </p:nvPr>
        </p:nvSpPr>
        <p:spPr>
          <a:xfrm>
            <a:off x="914399" y="685800"/>
            <a:ext cx="674145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11" name="Slide Number">
            <a:extLst>
              <a:ext uri="{FF2B5EF4-FFF2-40B4-BE49-F238E27FC236}">
                <a16:creationId xmlns:a16="http://schemas.microsoft.com/office/drawing/2014/main" id="{E4D1432D-D7E0-7FBA-904B-A22566B27F70}"/>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
        <p:nvSpPr>
          <p:cNvPr id="12" name="Title 1">
            <a:extLst>
              <a:ext uri="{FF2B5EF4-FFF2-40B4-BE49-F238E27FC236}">
                <a16:creationId xmlns:a16="http://schemas.microsoft.com/office/drawing/2014/main" id="{5E0526D6-879B-8512-B5E0-7F149445EC8F}"/>
              </a:ext>
            </a:extLst>
          </p:cNvPr>
          <p:cNvSpPr>
            <a:spLocks noGrp="1"/>
          </p:cNvSpPr>
          <p:nvPr>
            <p:ph type="title" hasCustomPrompt="1"/>
          </p:nvPr>
        </p:nvSpPr>
        <p:spPr>
          <a:xfrm>
            <a:off x="914399" y="1143000"/>
            <a:ext cx="21031201" cy="1371600"/>
          </a:xfrm>
        </p:spPr>
        <p:txBody>
          <a:bodyPr anchor="ctr">
            <a:normAutofit/>
          </a:bodyPr>
          <a:lstStyle>
            <a:lvl1pPr>
              <a:defRPr sz="7200"/>
            </a:lvl1pPr>
          </a:lstStyle>
          <a:p>
            <a:r>
              <a:rPr lang="en-US"/>
              <a:t>Click To Edit Master Title Style</a:t>
            </a:r>
          </a:p>
        </p:txBody>
      </p:sp>
    </p:spTree>
    <p:extLst>
      <p:ext uri="{BB962C8B-B14F-4D97-AF65-F5344CB8AC3E}">
        <p14:creationId xmlns:p14="http://schemas.microsoft.com/office/powerpoint/2010/main" val="15532777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0508578"/>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1" y="5876364"/>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401" y="5419164"/>
            <a:ext cx="10381129" cy="457200"/>
          </a:xfrm>
        </p:spPr>
        <p:txBody>
          <a:bodyPr anchor="ctr">
            <a:noAutofit/>
          </a:bodyPr>
          <a:lstStyle>
            <a:lvl1pPr marL="0" indent="0">
              <a:buNone/>
              <a:defRPr sz="2400" b="1" i="0" spc="600">
                <a:solidFill>
                  <a:schemeClr val="tx2">
                    <a:lumMod val="75000"/>
                    <a:lumOff val="25000"/>
                  </a:schemeClr>
                </a:solidFill>
                <a:latin typeface="Poppins" pitchFamily="2" charset="77"/>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sp>
        <p:nvSpPr>
          <p:cNvPr id="5" name="Slide Number">
            <a:extLst>
              <a:ext uri="{FF2B5EF4-FFF2-40B4-BE49-F238E27FC236}">
                <a16:creationId xmlns:a16="http://schemas.microsoft.com/office/drawing/2014/main" id="{BED4083A-D6B9-AA23-8113-C671D5AC6F98}"/>
              </a:ext>
            </a:extLst>
          </p:cNvPr>
          <p:cNvSpPr txBox="1">
            <a:spLocks noGrp="1"/>
          </p:cNvSpPr>
          <p:nvPr>
            <p:ph type="sldNum" sz="quarter" idx="14"/>
          </p:nvPr>
        </p:nvSpPr>
        <p:spPr>
          <a:xfrm>
            <a:off x="11869820" y="13059225"/>
            <a:ext cx="631660" cy="409277"/>
          </a:xfrm>
          <a:prstGeom prst="rect">
            <a:avLst/>
          </a:prstGeom>
        </p:spPr>
        <p:txBody>
          <a:bodyPr anchor="ctr"/>
          <a:lstStyle>
            <a:lvl1pPr>
              <a:defRPr sz="1400">
                <a:solidFill>
                  <a:srgbClr val="D3D3D3"/>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4030865050"/>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C3A6-6A17-140C-B78A-254C03D6AAC6}"/>
              </a:ext>
            </a:extLst>
          </p:cNvPr>
          <p:cNvSpPr>
            <a:spLocks noGrp="1"/>
          </p:cNvSpPr>
          <p:nvPr>
            <p:ph type="title" hasCustomPrompt="1"/>
          </p:nvPr>
        </p:nvSpPr>
        <p:spPr>
          <a:xfrm>
            <a:off x="914400" y="1143000"/>
            <a:ext cx="10381129" cy="2286000"/>
          </a:xfrm>
        </p:spPr>
        <p:txBody>
          <a:bodyPr anchor="t">
            <a:normAutofit/>
          </a:bodyPr>
          <a:lstStyle>
            <a:lvl1pPr>
              <a:defRPr sz="7200"/>
            </a:lvl1pPr>
          </a:lstStyle>
          <a:p>
            <a:r>
              <a:rPr lang="en-US"/>
              <a:t>Click To Edit Master Title Style</a:t>
            </a:r>
          </a:p>
        </p:txBody>
      </p:sp>
      <p:sp>
        <p:nvSpPr>
          <p:cNvPr id="8" name="Text Placeholder 7">
            <a:extLst>
              <a:ext uri="{FF2B5EF4-FFF2-40B4-BE49-F238E27FC236}">
                <a16:creationId xmlns:a16="http://schemas.microsoft.com/office/drawing/2014/main" id="{8593ACEC-1DC6-3319-BB64-6F7F26DF7F54}"/>
              </a:ext>
            </a:extLst>
          </p:cNvPr>
          <p:cNvSpPr>
            <a:spLocks noGrp="1"/>
          </p:cNvSpPr>
          <p:nvPr>
            <p:ph type="body" sz="quarter" idx="13" hasCustomPrompt="1"/>
          </p:nvPr>
        </p:nvSpPr>
        <p:spPr>
          <a:xfrm>
            <a:off x="914399" y="685800"/>
            <a:ext cx="10381129" cy="457200"/>
          </a:xfrm>
        </p:spPr>
        <p:txBody>
          <a:bodyPr anchor="ctr">
            <a:noAutofit/>
          </a:bodyPr>
          <a:lstStyle>
            <a:lvl1pPr marL="0" indent="0">
              <a:buNone/>
              <a:defRPr sz="2400" b="1" i="0" spc="600">
                <a:solidFill>
                  <a:schemeClr val="tx2">
                    <a:lumMod val="75000"/>
                    <a:lumOff val="25000"/>
                  </a:schemeClr>
                </a:solidFill>
                <a:latin typeface="Inter" panose="02000503000000020004" pitchFamily="2" charset="0"/>
                <a:ea typeface="Inter" panose="02000503000000020004" pitchFamily="2" charset="0"/>
                <a:cs typeface="Poppins" pitchFamily="2" charset="77"/>
              </a:defRPr>
            </a:lvl1pPr>
            <a:lvl2pPr marL="457200" indent="0">
              <a:buNone/>
              <a:defRPr sz="2400" b="1" i="0">
                <a:solidFill>
                  <a:srgbClr val="026A94"/>
                </a:solidFill>
                <a:latin typeface="Poppins" pitchFamily="2" charset="77"/>
                <a:cs typeface="Poppins" pitchFamily="2" charset="77"/>
              </a:defRPr>
            </a:lvl2pPr>
            <a:lvl3pPr marL="914400" indent="0">
              <a:buNone/>
              <a:defRPr sz="2400" b="1" i="0">
                <a:solidFill>
                  <a:srgbClr val="026A94"/>
                </a:solidFill>
                <a:latin typeface="Poppins" pitchFamily="2" charset="77"/>
                <a:cs typeface="Poppins" pitchFamily="2" charset="77"/>
              </a:defRPr>
            </a:lvl3pPr>
            <a:lvl4pPr marL="1371600" indent="0">
              <a:buNone/>
              <a:defRPr sz="2400" b="1" i="0">
                <a:solidFill>
                  <a:srgbClr val="026A94"/>
                </a:solidFill>
                <a:latin typeface="Poppins" pitchFamily="2" charset="77"/>
                <a:cs typeface="Poppins" pitchFamily="2" charset="77"/>
              </a:defRPr>
            </a:lvl4pPr>
            <a:lvl5pPr marL="1828800" indent="0">
              <a:buNone/>
              <a:defRPr sz="2400" b="1" i="0">
                <a:solidFill>
                  <a:srgbClr val="026A94"/>
                </a:solidFill>
                <a:latin typeface="Poppins" pitchFamily="2" charset="77"/>
                <a:cs typeface="Poppins" pitchFamily="2" charset="77"/>
              </a:defRPr>
            </a:lvl5pPr>
          </a:lstStyle>
          <a:p>
            <a:pPr lvl="0"/>
            <a:r>
              <a:rPr lang="en-US"/>
              <a:t>CLICK TO EDIT MASTER TEXT </a:t>
            </a:r>
          </a:p>
        </p:txBody>
      </p:sp>
      <p:pic>
        <p:nvPicPr>
          <p:cNvPr id="3" name="Picture 2">
            <a:extLst>
              <a:ext uri="{FF2B5EF4-FFF2-40B4-BE49-F238E27FC236}">
                <a16:creationId xmlns:a16="http://schemas.microsoft.com/office/drawing/2014/main" id="{95FA3695-C6C3-6C1E-A6C2-E05C7E726E01}"/>
              </a:ext>
            </a:extLst>
          </p:cNvPr>
          <p:cNvPicPr>
            <a:picLocks noChangeAspect="1"/>
          </p:cNvPicPr>
          <p:nvPr userDrawn="1"/>
        </p:nvPicPr>
        <p:blipFill>
          <a:blip r:embed="rId2">
            <a:extLst>
              <a:ext uri="{28A0092B-C50C-407E-A947-70E740481C1C}">
                <a14:useLocalDpi xmlns:a14="http://schemas.microsoft.com/office/drawing/2010/main" val="0"/>
              </a:ext>
            </a:extLst>
          </a:blip>
          <a:srcRect l="17127" r="17127"/>
          <a:stretch/>
        </p:blipFill>
        <p:spPr>
          <a:xfrm>
            <a:off x="12266382" y="0"/>
            <a:ext cx="13037657" cy="13716000"/>
          </a:xfrm>
          <a:prstGeom prst="rect">
            <a:avLst/>
          </a:prstGeom>
        </p:spPr>
      </p:pic>
      <p:sp>
        <p:nvSpPr>
          <p:cNvPr id="6" name="Rectangle 5">
            <a:extLst>
              <a:ext uri="{FF2B5EF4-FFF2-40B4-BE49-F238E27FC236}">
                <a16:creationId xmlns:a16="http://schemas.microsoft.com/office/drawing/2014/main" id="{01988D3D-5496-22F7-3C2C-365C0644652D}"/>
              </a:ext>
            </a:extLst>
          </p:cNvPr>
          <p:cNvSpPr/>
          <p:nvPr userDrawn="1"/>
        </p:nvSpPr>
        <p:spPr>
          <a:xfrm>
            <a:off x="12266382" y="0"/>
            <a:ext cx="13037657" cy="13716000"/>
          </a:xfrm>
          <a:prstGeom prst="rect">
            <a:avLst/>
          </a:prstGeom>
          <a:solidFill>
            <a:schemeClr val="tx1">
              <a:alpha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Text Placeholder 9">
            <a:extLst>
              <a:ext uri="{FF2B5EF4-FFF2-40B4-BE49-F238E27FC236}">
                <a16:creationId xmlns:a16="http://schemas.microsoft.com/office/drawing/2014/main" id="{600F98A0-D6C1-5488-4341-E74D3B851E1A}"/>
              </a:ext>
            </a:extLst>
          </p:cNvPr>
          <p:cNvSpPr>
            <a:spLocks noGrp="1"/>
          </p:cNvSpPr>
          <p:nvPr>
            <p:ph type="body" sz="quarter" idx="15"/>
          </p:nvPr>
        </p:nvSpPr>
        <p:spPr>
          <a:xfrm>
            <a:off x="914400" y="3886200"/>
            <a:ext cx="10380663" cy="8490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0664033"/>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1">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9E2FA4-E544-D2EB-A0FC-11608BB1FF68}"/>
              </a:ext>
            </a:extLst>
          </p:cNvPr>
          <p:cNvSpPr/>
          <p:nvPr userDrawn="1"/>
        </p:nvSpPr>
        <p:spPr>
          <a:xfrm>
            <a:off x="0" y="0"/>
            <a:ext cx="24384000" cy="13716000"/>
          </a:xfrm>
          <a:prstGeom prst="rect">
            <a:avLst/>
          </a:prstGeom>
          <a:solidFill>
            <a:srgbClr val="0C111D">
              <a:alpha val="85000"/>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Disclaimer - This is a preliminary draft for discussion purposes only and is not intended for public or media distribution. Warranty - Bonjoy, LLC and its affiliates offer no warranty regarding the information in this draft; and in no circumstances will ">
            <a:extLst>
              <a:ext uri="{FF2B5EF4-FFF2-40B4-BE49-F238E27FC236}">
                <a16:creationId xmlns:a16="http://schemas.microsoft.com/office/drawing/2014/main" id="{EE8DE6D1-3953-2F21-D710-12914EBE492C}"/>
              </a:ext>
            </a:extLst>
          </p:cNvPr>
          <p:cNvSpPr txBox="1"/>
          <p:nvPr userDrawn="1"/>
        </p:nvSpPr>
        <p:spPr>
          <a:xfrm>
            <a:off x="1201340" y="11800123"/>
            <a:ext cx="22736622" cy="83322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lc="http://schemas.openxmlformats.org/drawingml/2006/lockedCanvas" xmlns="" val="1"/>
            </a:ext>
          </a:extLst>
        </p:spPr>
        <p:txBody>
          <a:bodyPr wrap="square" lIns="12531" tIns="12531" rIns="12531" bIns="12531"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just"/>
            <a:r>
              <a:rPr lang="en-US" sz="1050">
                <a:solidFill>
                  <a:schemeClr val="bg2">
                    <a:lumMod val="75000"/>
                  </a:schemeClr>
                </a:solidFill>
                <a:latin typeface="Poppins" pitchFamily="2" charset="77"/>
                <a:cs typeface="Poppins" pitchFamily="2" charset="77"/>
              </a:rPr>
              <a:t>© 2025 Southern Methodist University | CONFIDENTIAL: This presentation and its contents are proprietary and confidential information belonging to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The materials may contain sensitive information protected by applicable laws and regulations. Unauthorized use, disclosure, or distribution of this document or any of its contents is strictly prohibited. If you are not the intended recipient, please notify the sender immediately and delete this document along with any copies in your possession. Any unauthorized review, use, disclosure, or distribution is prohibited and may result in legal action. While every effort has been made to ensure the accuracy and reliability of the information presented,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makes no representations or warranties of any kind, express or implied, regarding its completeness or suitability. All information is provided "as is" without any warranty. This presentation may contain forward-looking statements regarding future events or performance. These statements involve risks and uncertainties that could cause actual results to differ materially from those expressed or implied. In no event shall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 or Southern Methodist University be liable for any direct, indirect, incidental, special, consequential, or punitive damages arising out of or related to the use of this presentation or its contents. For questions regarding this presentation or its contents, please contact </a:t>
            </a:r>
            <a:r>
              <a:rPr lang="en-US" sz="1050" err="1">
                <a:solidFill>
                  <a:schemeClr val="bg2">
                    <a:lumMod val="75000"/>
                  </a:schemeClr>
                </a:solidFill>
                <a:latin typeface="Poppins" pitchFamily="2" charset="77"/>
                <a:cs typeface="Poppins" pitchFamily="2" charset="77"/>
              </a:rPr>
              <a:t>Traders@SMU</a:t>
            </a:r>
            <a:r>
              <a:rPr lang="en-US" sz="1050">
                <a:solidFill>
                  <a:schemeClr val="bg2">
                    <a:lumMod val="75000"/>
                  </a:schemeClr>
                </a:solidFill>
                <a:latin typeface="Poppins" pitchFamily="2" charset="77"/>
                <a:cs typeface="Poppins" pitchFamily="2" charset="77"/>
              </a:rPr>
              <a:t>.</a:t>
            </a:r>
          </a:p>
        </p:txBody>
      </p:sp>
      <p:cxnSp>
        <p:nvCxnSpPr>
          <p:cNvPr id="15" name="Straight Connector 14">
            <a:extLst>
              <a:ext uri="{FF2B5EF4-FFF2-40B4-BE49-F238E27FC236}">
                <a16:creationId xmlns:a16="http://schemas.microsoft.com/office/drawing/2014/main" id="{B8541D7D-14D2-9CC9-5361-3B6109E5ABB9}"/>
              </a:ext>
            </a:extLst>
          </p:cNvPr>
          <p:cNvCxnSpPr/>
          <p:nvPr userDrawn="1"/>
        </p:nvCxnSpPr>
        <p:spPr>
          <a:xfrm>
            <a:off x="1201340" y="12855388"/>
            <a:ext cx="22530530" cy="0"/>
          </a:xfrm>
          <a:prstGeom prst="line">
            <a:avLst/>
          </a:prstGeom>
          <a:noFill/>
          <a:ln w="12700" cap="flat">
            <a:solidFill>
              <a:schemeClr val="bg2">
                <a:lumMod val="75000"/>
              </a:schemeClr>
            </a:solidFill>
            <a:prstDash val="solid"/>
            <a:miter lim="400000"/>
          </a:ln>
          <a:effectLst/>
          <a:sp3d/>
        </p:spPr>
        <p:style>
          <a:lnRef idx="0">
            <a:scrgbClr r="0" g="0" b="0"/>
          </a:lnRef>
          <a:fillRef idx="0">
            <a:scrgbClr r="0" g="0" b="0"/>
          </a:fillRef>
          <a:effectRef idx="0">
            <a:scrgbClr r="0" g="0" b="0"/>
          </a:effectRef>
          <a:fontRef idx="none"/>
        </p:style>
      </p:cxnSp>
      <p:pic>
        <p:nvPicPr>
          <p:cNvPr id="3" name="Picture 2">
            <a:extLst>
              <a:ext uri="{FF2B5EF4-FFF2-40B4-BE49-F238E27FC236}">
                <a16:creationId xmlns:a16="http://schemas.microsoft.com/office/drawing/2014/main" id="{4295DB26-4C39-DFFB-3330-0B6E49A56D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196692" y="6079793"/>
            <a:ext cx="10253532" cy="1414943"/>
          </a:xfrm>
          <a:prstGeom prst="rect">
            <a:avLst/>
          </a:prstGeom>
        </p:spPr>
      </p:pic>
    </p:spTree>
    <p:extLst>
      <p:ext uri="{BB962C8B-B14F-4D97-AF65-F5344CB8AC3E}">
        <p14:creationId xmlns:p14="http://schemas.microsoft.com/office/powerpoint/2010/main" val="2267106217"/>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4.svg"/><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441451"/>
            <a:ext cx="21971000" cy="825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50800" rIns="50800" bIns="50800">
            <a:normAutofit/>
          </a:bodyPr>
          <a:lstStyle/>
          <a:p>
            <a:r>
              <a:rPr lang="en-US"/>
              <a:t>Slide Title</a:t>
            </a:r>
            <a:endParaRP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50800" rIns="50800" bIns="50800">
            <a:normAutofit/>
          </a:bodyPr>
          <a:lstStyle/>
          <a:p>
            <a:r>
              <a:t>Slide bullet text</a:t>
            </a:r>
            <a:endParaRPr lang="en-US"/>
          </a:p>
          <a:p>
            <a:pPr lvl="1"/>
            <a:endParaRPr/>
          </a:p>
          <a:p>
            <a:pPr lvl="3"/>
            <a:endParaRPr/>
          </a:p>
          <a:p>
            <a:pPr lvl="4"/>
            <a:endParaRPr/>
          </a:p>
        </p:txBody>
      </p:sp>
    </p:spTree>
  </p:cSld>
  <p:clrMap bg1="lt1" tx1="dk1" bg2="lt2" tx2="dk2" accent1="accent1" accent2="accent2" accent3="accent3" accent4="accent4" accent5="accent5" accent6="accent6" hlink="hlink" folHlink="folHlink"/>
  <p:sldLayoutIdLst>
    <p:sldLayoutId id="2147483670" r:id="rId1"/>
  </p:sldLayoutIdLst>
  <p:transition spd="med"/>
  <p:hf hdr="0" ftr="0" dt="0"/>
  <p:txStyles>
    <p:titleStyle>
      <a:lvl1pPr marL="0" marR="0" indent="0" algn="l" defTabSz="2438338" rtl="0" eaLnBrk="1" latinLnBrk="0" hangingPunct="1">
        <a:lnSpc>
          <a:spcPct val="80000"/>
        </a:lnSpc>
        <a:spcBef>
          <a:spcPts val="0"/>
        </a:spcBef>
        <a:spcAft>
          <a:spcPts val="0"/>
        </a:spcAft>
        <a:buClrTx/>
        <a:buSzTx/>
        <a:buFontTx/>
        <a:buNone/>
        <a:tabLst/>
        <a:defRPr sz="7200" b="1" i="0" u="none" strike="noStrike" cap="none" spc="-170" baseline="0">
          <a:solidFill>
            <a:srgbClr val="2B3145"/>
          </a:solidFill>
          <a:uFillTx/>
          <a:latin typeface="Inter" panose="02000503000000020004" pitchFamily="2" charset="0"/>
          <a:ea typeface="Inter" panose="02000503000000020004" pitchFamily="2" charset="0"/>
          <a:cs typeface="Poppins SemiBold" pitchFamily="2" charset="77"/>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Inter" panose="02000503000000020004" pitchFamily="2" charset="0"/>
          <a:ea typeface="Inter" panose="02000503000000020004" pitchFamily="2" charset="0"/>
          <a:cs typeface="Poppins" pitchFamily="2" charset="77"/>
          <a:sym typeface="Helvetica Neue"/>
        </a:defRPr>
      </a:lvl1pPr>
      <a:lvl2pPr marL="12192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2pPr>
      <a:lvl3pPr marL="1219200" marR="0" indent="0" algn="l" defTabSz="2438338" rtl="0" eaLnBrk="1" latinLnBrk="0" hangingPunct="1">
        <a:lnSpc>
          <a:spcPct val="150000"/>
        </a:lnSpc>
        <a:spcBef>
          <a:spcPts val="2000"/>
        </a:spcBef>
        <a:spcAft>
          <a:spcPts val="0"/>
        </a:spcAft>
        <a:buClrTx/>
        <a:buSzPct val="123000"/>
        <a:buFontTx/>
        <a:buNone/>
        <a:tabLst/>
        <a:defRPr sz="2800" b="0" i="0" u="none" strike="noStrike" cap="none" spc="0" baseline="0">
          <a:solidFill>
            <a:srgbClr val="667085"/>
          </a:solidFill>
          <a:uFillTx/>
          <a:latin typeface="Poppins" pitchFamily="2" charset="77"/>
          <a:ea typeface="+mn-ea"/>
          <a:cs typeface="Poppins" pitchFamily="2" charset="77"/>
          <a:sym typeface="Helvetica Neue"/>
        </a:defRPr>
      </a:lvl3pPr>
      <a:lvl4pPr marL="24384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4pPr>
      <a:lvl5pPr marL="3048000" marR="0" indent="-609600" algn="l" defTabSz="2438338" rtl="0" eaLnBrk="1" latinLnBrk="0" hangingPunct="1">
        <a:lnSpc>
          <a:spcPct val="150000"/>
        </a:lnSpc>
        <a:spcBef>
          <a:spcPts val="2000"/>
        </a:spcBef>
        <a:spcAft>
          <a:spcPts val="0"/>
        </a:spcAft>
        <a:buClrTx/>
        <a:buSzPct val="123000"/>
        <a:buFontTx/>
        <a:buChar char="•"/>
        <a:tabLst/>
        <a:defRPr sz="2800" b="0" i="0" u="none" strike="noStrike" cap="none" spc="0" baseline="0">
          <a:solidFill>
            <a:srgbClr val="667085"/>
          </a:solidFill>
          <a:uFillTx/>
          <a:latin typeface="Poppins" pitchFamily="2" charset="77"/>
          <a:ea typeface="+mn-ea"/>
          <a:cs typeface="Poppins" pitchFamily="2" charset="77"/>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	</a:t>
            </a:r>
          </a:p>
        </p:txBody>
      </p:sp>
      <p:pic>
        <p:nvPicPr>
          <p:cNvPr id="8" name="BJ-DarkBlue.png">
            <a:extLst>
              <a:ext uri="{FF2B5EF4-FFF2-40B4-BE49-F238E27FC236}">
                <a16:creationId xmlns:a16="http://schemas.microsoft.com/office/drawing/2014/main" id="{EBC81B96-2AD3-4C7B-42C3-4E85A376957F}"/>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1116561" y="12956158"/>
            <a:ext cx="2328369" cy="320040"/>
          </a:xfrm>
          <a:prstGeom prst="rect">
            <a:avLst/>
          </a:prstGeom>
          <a:ln w="12700">
            <a:miter lim="400000"/>
          </a:ln>
        </p:spPr>
      </p:pic>
      <p:sp>
        <p:nvSpPr>
          <p:cNvPr id="4" name="TextBox 3">
            <a:extLst>
              <a:ext uri="{FF2B5EF4-FFF2-40B4-BE49-F238E27FC236}">
                <a16:creationId xmlns:a16="http://schemas.microsoft.com/office/drawing/2014/main" id="{8623C628-D01E-0CD6-9E10-2D31F5508938}"/>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cxnSp>
        <p:nvCxnSpPr>
          <p:cNvPr id="5" name="Straight Connector 4">
            <a:extLst>
              <a:ext uri="{FF2B5EF4-FFF2-40B4-BE49-F238E27FC236}">
                <a16:creationId xmlns:a16="http://schemas.microsoft.com/office/drawing/2014/main" id="{E72A9C8E-7D47-8715-6846-12FC5D5EC226}"/>
              </a:ext>
            </a:extLst>
          </p:cNvPr>
          <p:cNvCxnSpPr/>
          <p:nvPr userDrawn="1"/>
        </p:nvCxnSpPr>
        <p:spPr>
          <a:xfrm>
            <a:off x="914400" y="12658216"/>
            <a:ext cx="22530530" cy="0"/>
          </a:xfrm>
          <a:prstGeom prst="line">
            <a:avLst/>
          </a:prstGeom>
          <a:noFill/>
          <a:ln w="12700" cap="flat">
            <a:solidFill>
              <a:schemeClr val="bg1">
                <a:lumMod val="85000"/>
              </a:schemeClr>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10439736"/>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Lst>
  <p:hf hdr="0" ftr="0" dt="0"/>
  <p:txStyles>
    <p:titleStyle>
      <a:lvl1pPr algn="l" defTabSz="914400" rtl="0" eaLnBrk="1" latinLnBrk="0" hangingPunct="1">
        <a:lnSpc>
          <a:spcPct val="9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BJ-DarkBlue.png">
            <a:extLst>
              <a:ext uri="{FF2B5EF4-FFF2-40B4-BE49-F238E27FC236}">
                <a16:creationId xmlns:a16="http://schemas.microsoft.com/office/drawing/2014/main" id="{AB37DC0E-6461-9329-6B50-14369B1D6666}"/>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21116561" y="12956158"/>
            <a:ext cx="2328369" cy="320040"/>
          </a:xfrm>
          <a:prstGeom prst="rect">
            <a:avLst/>
          </a:prstGeom>
          <a:ln w="12700">
            <a:miter lim="400000"/>
          </a:ln>
        </p:spPr>
      </p:pic>
      <p:sp>
        <p:nvSpPr>
          <p:cNvPr id="9" name="TextBox 8">
            <a:extLst>
              <a:ext uri="{FF2B5EF4-FFF2-40B4-BE49-F238E27FC236}">
                <a16:creationId xmlns:a16="http://schemas.microsoft.com/office/drawing/2014/main" id="{9F195239-E345-BB77-B973-7BB6BDB34EAA}"/>
              </a:ext>
            </a:extLst>
          </p:cNvPr>
          <p:cNvSpPr txBox="1"/>
          <p:nvPr userDrawn="1"/>
        </p:nvSpPr>
        <p:spPr>
          <a:xfrm>
            <a:off x="914400" y="12977679"/>
            <a:ext cx="7386918"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0">
            <a:spAutoFit/>
          </a:bodyPr>
          <a:lstStyle/>
          <a:p>
            <a:pPr algn="l"/>
            <a:r>
              <a:rPr lang="en-US" sz="1200">
                <a:solidFill>
                  <a:srgbClr val="D3D3D3"/>
                </a:solidFill>
              </a:rPr>
              <a:t> © 2025 </a:t>
            </a:r>
            <a:r>
              <a:rPr lang="en-US" sz="1200" err="1">
                <a:solidFill>
                  <a:srgbClr val="D3D3D3"/>
                </a:solidFill>
              </a:rPr>
              <a:t>Traders@SMU</a:t>
            </a:r>
            <a:r>
              <a:rPr lang="en-US" sz="1200">
                <a:solidFill>
                  <a:srgbClr val="D3D3D3"/>
                </a:solidFill>
              </a:rPr>
              <a:t> | CONFIDENTIAL</a:t>
            </a:r>
          </a:p>
        </p:txBody>
      </p:sp>
    </p:spTree>
    <p:extLst>
      <p:ext uri="{BB962C8B-B14F-4D97-AF65-F5344CB8AC3E}">
        <p14:creationId xmlns:p14="http://schemas.microsoft.com/office/powerpoint/2010/main" val="1484328305"/>
      </p:ext>
    </p:extLst>
  </p:cSld>
  <p:clrMap bg1="lt1" tx1="dk1" bg2="lt2" tx2="dk2" accent1="accent1" accent2="accent2" accent3="accent3" accent4="accent4" accent5="accent5" accent6="accent6" hlink="hlink" folHlink="folHlink"/>
  <p:sldLayoutIdLst>
    <p:sldLayoutId id="2147483700" r:id="rId1"/>
    <p:sldLayoutId id="2147483696" r:id="rId2"/>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0354B-AEA5-C2FA-5785-4D02DFDAEBED}"/>
              </a:ext>
            </a:extLst>
          </p:cNvPr>
          <p:cNvSpPr>
            <a:spLocks noGrp="1"/>
          </p:cNvSpPr>
          <p:nvPr>
            <p:ph type="title"/>
          </p:nvPr>
        </p:nvSpPr>
        <p:spPr>
          <a:xfrm>
            <a:off x="914400" y="1371600"/>
            <a:ext cx="21031200" cy="1283634"/>
          </a:xfrm>
          <a:prstGeom prst="rect">
            <a:avLst/>
          </a:prstGeom>
        </p:spPr>
        <p:txBody>
          <a:bodyPr vert="horz" lIns="91440" tIns="45720" rIns="91440" bIns="45720" rtlCol="0" anchor="t">
            <a:normAutofit/>
          </a:bodyPr>
          <a:lstStyle/>
          <a:p>
            <a:r>
              <a:rPr lang="en-US"/>
              <a:t>Title</a:t>
            </a:r>
          </a:p>
        </p:txBody>
      </p:sp>
      <p:sp>
        <p:nvSpPr>
          <p:cNvPr id="3" name="Text Placeholder 2">
            <a:extLst>
              <a:ext uri="{FF2B5EF4-FFF2-40B4-BE49-F238E27FC236}">
                <a16:creationId xmlns:a16="http://schemas.microsoft.com/office/drawing/2014/main" id="{8D96234D-DECD-6C9B-1EA9-BCEA71E00A63}"/>
              </a:ext>
            </a:extLst>
          </p:cNvPr>
          <p:cNvSpPr>
            <a:spLocks noGrp="1"/>
          </p:cNvSpPr>
          <p:nvPr>
            <p:ph type="body" idx="1"/>
          </p:nvPr>
        </p:nvSpPr>
        <p:spPr>
          <a:xfrm>
            <a:off x="914400" y="3657600"/>
            <a:ext cx="22481241" cy="87026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9153514"/>
      </p:ext>
    </p:extLst>
  </p:cSld>
  <p:clrMap bg1="lt1" tx1="dk1" bg2="lt2" tx2="dk2" accent1="accent1" accent2="accent2" accent3="accent3" accent4="accent4" accent5="accent5" accent6="accent6" hlink="hlink" folHlink="folHlink"/>
  <p:sldLayoutIdLst>
    <p:sldLayoutId id="2147483706" r:id="rId1"/>
  </p:sldLayoutIdLst>
  <p:hf hdr="0" ftr="0" dt="0"/>
  <p:txStyles>
    <p:titleStyle>
      <a:lvl1pPr algn="l" defTabSz="914400" rtl="0" eaLnBrk="1" latinLnBrk="0" hangingPunct="1">
        <a:lnSpc>
          <a:spcPct val="100000"/>
        </a:lnSpc>
        <a:spcBef>
          <a:spcPct val="0"/>
        </a:spcBef>
        <a:buNone/>
        <a:defRPr sz="7200" b="1" i="0" kern="1200">
          <a:solidFill>
            <a:srgbClr val="2B3145"/>
          </a:solidFill>
          <a:latin typeface="Inter" panose="02000503000000020004" pitchFamily="2" charset="0"/>
          <a:ea typeface="Inter" panose="02000503000000020004" pitchFamily="2" charset="0"/>
          <a:cs typeface="Poppins SemiBold" pitchFamily="2" charset="77"/>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FDFE16-9A3E-3152-D929-C68158E4998E}"/>
              </a:ext>
            </a:extLst>
          </p:cNvPr>
          <p:cNvSpPr>
            <a:spLocks noGrp="1"/>
          </p:cNvSpPr>
          <p:nvPr>
            <p:ph type="title"/>
          </p:nvPr>
        </p:nvSpPr>
        <p:spPr>
          <a:xfrm>
            <a:off x="929313" y="5236070"/>
            <a:ext cx="22525374" cy="3243859"/>
          </a:xfrm>
        </p:spPr>
        <p:txBody>
          <a:bodyPr/>
          <a:lstStyle/>
          <a:p>
            <a:r>
              <a:rPr lang="en-US">
                <a:latin typeface="Inter SemiBold"/>
                <a:cs typeface="Poppins SemiBold"/>
              </a:rPr>
              <a:t>US Economic Indicators Relationship to SPY Performance</a:t>
            </a:r>
            <a:endParaRPr lang="en-US"/>
          </a:p>
        </p:txBody>
      </p:sp>
    </p:spTree>
    <p:extLst>
      <p:ext uri="{BB962C8B-B14F-4D97-AF65-F5344CB8AC3E}">
        <p14:creationId xmlns:p14="http://schemas.microsoft.com/office/powerpoint/2010/main" val="148590951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0C4E-4396-0F28-5699-21BA9AFF53C9}"/>
              </a:ext>
            </a:extLst>
          </p:cNvPr>
          <p:cNvSpPr>
            <a:spLocks noGrp="1"/>
          </p:cNvSpPr>
          <p:nvPr>
            <p:ph type="title"/>
          </p:nvPr>
        </p:nvSpPr>
        <p:spPr>
          <a:xfrm>
            <a:off x="1417968" y="1597249"/>
            <a:ext cx="21031201" cy="1371600"/>
          </a:xfrm>
        </p:spPr>
        <p:txBody>
          <a:bodyPr/>
          <a:lstStyle/>
          <a:p>
            <a:pPr algn="ctr"/>
            <a:r>
              <a:rPr lang="en-US">
                <a:latin typeface="Inter"/>
                <a:cs typeface="Poppins SemiBold"/>
              </a:rPr>
              <a:t>Our Team</a:t>
            </a:r>
            <a:endParaRPr lang="en-US"/>
          </a:p>
        </p:txBody>
      </p:sp>
      <p:pic>
        <p:nvPicPr>
          <p:cNvPr id="6" name="Content Placeholder 5" descr="A person in a suit and tie&#10;&#10;AI-generated content may be incorrect.">
            <a:extLst>
              <a:ext uri="{FF2B5EF4-FFF2-40B4-BE49-F238E27FC236}">
                <a16:creationId xmlns:a16="http://schemas.microsoft.com/office/drawing/2014/main" id="{04D7AF9D-64DB-94B1-DE7F-1D9281ECD18E}"/>
              </a:ext>
            </a:extLst>
          </p:cNvPr>
          <p:cNvPicPr>
            <a:picLocks noGrp="1" noChangeAspect="1"/>
          </p:cNvPicPr>
          <p:nvPr>
            <p:ph idx="1"/>
          </p:nvPr>
        </p:nvPicPr>
        <p:blipFill>
          <a:blip r:embed="rId2"/>
          <a:stretch>
            <a:fillRect/>
          </a:stretch>
        </p:blipFill>
        <p:spPr>
          <a:xfrm>
            <a:off x="2555243" y="4218823"/>
            <a:ext cx="4506030" cy="4350807"/>
          </a:xfrm>
        </p:spPr>
      </p:pic>
      <p:sp>
        <p:nvSpPr>
          <p:cNvPr id="5" name="Slide Number Placeholder 4">
            <a:extLst>
              <a:ext uri="{FF2B5EF4-FFF2-40B4-BE49-F238E27FC236}">
                <a16:creationId xmlns:a16="http://schemas.microsoft.com/office/drawing/2014/main" id="{2F651E3A-92C8-D8FD-451A-533254BA1BED}"/>
              </a:ext>
            </a:extLst>
          </p:cNvPr>
          <p:cNvSpPr>
            <a:spLocks noGrp="1"/>
          </p:cNvSpPr>
          <p:nvPr>
            <p:ph type="sldNum" sz="quarter" idx="2"/>
          </p:nvPr>
        </p:nvSpPr>
        <p:spPr/>
        <p:txBody>
          <a:bodyPr/>
          <a:lstStyle/>
          <a:p>
            <a:fld id="{86CB4B4D-7CA3-9044-876B-883B54F8677D}" type="slidenum">
              <a:rPr lang="en-US" smtClean="0"/>
              <a:pPr/>
              <a:t>2</a:t>
            </a:fld>
            <a:endParaRPr lang="en-US"/>
          </a:p>
        </p:txBody>
      </p:sp>
      <p:pic>
        <p:nvPicPr>
          <p:cNvPr id="7" name="Picture 6" descr="A person in a suit and tie&#10;&#10;AI-generated content may be incorrect.">
            <a:extLst>
              <a:ext uri="{FF2B5EF4-FFF2-40B4-BE49-F238E27FC236}">
                <a16:creationId xmlns:a16="http://schemas.microsoft.com/office/drawing/2014/main" id="{58092C74-DE53-8B8A-C7CB-BABAD1D440E7}"/>
              </a:ext>
            </a:extLst>
          </p:cNvPr>
          <p:cNvPicPr>
            <a:picLocks noChangeAspect="1"/>
          </p:cNvPicPr>
          <p:nvPr/>
        </p:nvPicPr>
        <p:blipFill>
          <a:blip r:embed="rId3"/>
          <a:stretch>
            <a:fillRect/>
          </a:stretch>
        </p:blipFill>
        <p:spPr>
          <a:xfrm>
            <a:off x="9621773" y="4227449"/>
            <a:ext cx="4496093" cy="4352028"/>
          </a:xfrm>
          <a:prstGeom prst="rect">
            <a:avLst/>
          </a:prstGeom>
        </p:spPr>
      </p:pic>
      <p:pic>
        <p:nvPicPr>
          <p:cNvPr id="10" name="Picture 9" descr="A person in a suit and tie&#10;&#10;AI-generated content may be incorrect.">
            <a:extLst>
              <a:ext uri="{FF2B5EF4-FFF2-40B4-BE49-F238E27FC236}">
                <a16:creationId xmlns:a16="http://schemas.microsoft.com/office/drawing/2014/main" id="{F0480878-0B85-F1C5-16FE-68E5A4A2FEB0}"/>
              </a:ext>
            </a:extLst>
          </p:cNvPr>
          <p:cNvPicPr>
            <a:picLocks noChangeAspect="1"/>
          </p:cNvPicPr>
          <p:nvPr/>
        </p:nvPicPr>
        <p:blipFill>
          <a:blip r:embed="rId4"/>
          <a:stretch>
            <a:fillRect/>
          </a:stretch>
        </p:blipFill>
        <p:spPr>
          <a:xfrm>
            <a:off x="16669491" y="4227449"/>
            <a:ext cx="4517425" cy="4352688"/>
          </a:xfrm>
          <a:prstGeom prst="rect">
            <a:avLst/>
          </a:prstGeom>
        </p:spPr>
      </p:pic>
      <p:sp>
        <p:nvSpPr>
          <p:cNvPr id="11" name="TextBox 10">
            <a:extLst>
              <a:ext uri="{FF2B5EF4-FFF2-40B4-BE49-F238E27FC236}">
                <a16:creationId xmlns:a16="http://schemas.microsoft.com/office/drawing/2014/main" id="{5098571D-6B6B-2EA8-CCE3-7E1F5891D36B}"/>
              </a:ext>
            </a:extLst>
          </p:cNvPr>
          <p:cNvSpPr txBox="1"/>
          <p:nvPr/>
        </p:nvSpPr>
        <p:spPr>
          <a:xfrm>
            <a:off x="2555243" y="8669435"/>
            <a:ext cx="45054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667085"/>
                </a:solidFill>
                <a:latin typeface="Inter" panose="02000503000000020004" pitchFamily="2" charset="0"/>
                <a:ea typeface="Inter" panose="02000503000000020004" pitchFamily="2" charset="0"/>
                <a:cs typeface="+mn-lt"/>
              </a:rPr>
              <a:t>Finn </a:t>
            </a:r>
            <a:r>
              <a:rPr lang="en-US" sz="3600" b="1" err="1">
                <a:solidFill>
                  <a:srgbClr val="667085"/>
                </a:solidFill>
                <a:latin typeface="Inter" panose="02000503000000020004" pitchFamily="2" charset="0"/>
                <a:ea typeface="Inter" panose="02000503000000020004" pitchFamily="2" charset="0"/>
                <a:cs typeface="+mn-lt"/>
              </a:rPr>
              <a:t>Ihlanfeldt</a:t>
            </a:r>
            <a:endParaRPr lang="en-US" sz="3600" b="1">
              <a:solidFill>
                <a:srgbClr val="667085"/>
              </a:solidFill>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A4194C3B-445C-E9A6-A6E2-54EB3C8595CA}"/>
              </a:ext>
            </a:extLst>
          </p:cNvPr>
          <p:cNvSpPr txBox="1"/>
          <p:nvPr/>
        </p:nvSpPr>
        <p:spPr>
          <a:xfrm>
            <a:off x="9612367" y="8640702"/>
            <a:ext cx="45054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667085"/>
                </a:solidFill>
                <a:latin typeface="Inter" panose="02000503000000020004" pitchFamily="2" charset="0"/>
                <a:ea typeface="Inter" panose="02000503000000020004" pitchFamily="2" charset="0"/>
                <a:cs typeface="+mn-lt"/>
              </a:rPr>
              <a:t>Mateo </a:t>
            </a:r>
            <a:r>
              <a:rPr lang="en-US" sz="3600" b="1" err="1">
                <a:solidFill>
                  <a:srgbClr val="667085"/>
                </a:solidFill>
                <a:latin typeface="Inter" panose="02000503000000020004" pitchFamily="2" charset="0"/>
                <a:ea typeface="Inter" panose="02000503000000020004" pitchFamily="2" charset="0"/>
                <a:cs typeface="+mn-lt"/>
              </a:rPr>
              <a:t>Tamarozzi</a:t>
            </a:r>
            <a:endParaRPr lang="en-US" sz="3600" b="1">
              <a:solidFill>
                <a:srgbClr val="667085"/>
              </a:solidFill>
              <a:latin typeface="Inter" panose="02000503000000020004" pitchFamily="2" charset="0"/>
              <a:ea typeface="Inter" panose="02000503000000020004" pitchFamily="2" charset="0"/>
            </a:endParaRPr>
          </a:p>
        </p:txBody>
      </p:sp>
      <p:sp>
        <p:nvSpPr>
          <p:cNvPr id="13" name="TextBox 12">
            <a:extLst>
              <a:ext uri="{FF2B5EF4-FFF2-40B4-BE49-F238E27FC236}">
                <a16:creationId xmlns:a16="http://schemas.microsoft.com/office/drawing/2014/main" id="{F99D028D-F744-0BA7-469F-CE412A38E2E1}"/>
              </a:ext>
            </a:extLst>
          </p:cNvPr>
          <p:cNvSpPr txBox="1"/>
          <p:nvPr/>
        </p:nvSpPr>
        <p:spPr>
          <a:xfrm>
            <a:off x="16669491" y="8579147"/>
            <a:ext cx="450549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667085"/>
                </a:solidFill>
                <a:ea typeface="+mn-lt"/>
                <a:cs typeface="+mn-lt"/>
              </a:rPr>
              <a:t>Owen Merrill</a:t>
            </a:r>
            <a:endParaRPr lang="en-US" sz="3600" b="1">
              <a:solidFill>
                <a:srgbClr val="667085"/>
              </a:solidFill>
            </a:endParaRPr>
          </a:p>
        </p:txBody>
      </p:sp>
    </p:spTree>
    <p:extLst>
      <p:ext uri="{BB962C8B-B14F-4D97-AF65-F5344CB8AC3E}">
        <p14:creationId xmlns:p14="http://schemas.microsoft.com/office/powerpoint/2010/main" val="220427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E403-E80F-969A-2BF5-EB4099CA777F}"/>
              </a:ext>
            </a:extLst>
          </p:cNvPr>
          <p:cNvSpPr>
            <a:spLocks noGrp="1"/>
          </p:cNvSpPr>
          <p:nvPr>
            <p:ph type="title"/>
          </p:nvPr>
        </p:nvSpPr>
        <p:spPr>
          <a:xfrm>
            <a:off x="237995" y="1190582"/>
            <a:ext cx="11844733" cy="2397512"/>
          </a:xfrm>
        </p:spPr>
        <p:txBody>
          <a:bodyPr/>
          <a:lstStyle/>
          <a:p>
            <a:r>
              <a:rPr lang="en-US">
                <a:latin typeface="Inter"/>
                <a:cs typeface="Poppins SemiBold"/>
              </a:rPr>
              <a:t>Research Question &amp; Agenda</a:t>
            </a:r>
            <a:endParaRPr lang="en-US"/>
          </a:p>
        </p:txBody>
      </p:sp>
      <p:sp>
        <p:nvSpPr>
          <p:cNvPr id="4" name="Text Placeholder 3">
            <a:extLst>
              <a:ext uri="{FF2B5EF4-FFF2-40B4-BE49-F238E27FC236}">
                <a16:creationId xmlns:a16="http://schemas.microsoft.com/office/drawing/2014/main" id="{1F15B94F-9656-A120-CA43-ADFE32F5B109}"/>
              </a:ext>
            </a:extLst>
          </p:cNvPr>
          <p:cNvSpPr>
            <a:spLocks noGrp="1"/>
          </p:cNvSpPr>
          <p:nvPr>
            <p:ph type="body" sz="quarter" idx="15"/>
          </p:nvPr>
        </p:nvSpPr>
        <p:spPr>
          <a:xfrm>
            <a:off x="237996" y="1763648"/>
            <a:ext cx="11954004" cy="11426868"/>
          </a:xfrm>
        </p:spPr>
        <p:txBody>
          <a:bodyPr vert="horz" lIns="91440" tIns="45720" rIns="91440" bIns="45720" rtlCol="0" anchor="t">
            <a:normAutofit/>
          </a:bodyPr>
          <a:lstStyle/>
          <a:p>
            <a:endParaRPr lang="en-US" sz="4000">
              <a:latin typeface="Inter"/>
              <a:cs typeface="Poppins"/>
            </a:endParaRPr>
          </a:p>
          <a:p>
            <a:r>
              <a:rPr lang="en-US" sz="4000" b="1">
                <a:latin typeface="Inter"/>
                <a:cs typeface="Poppins"/>
              </a:rPr>
              <a:t>Do these U.S. economic indicators have a statistical or predictive relationship with monthly SPY returns?</a:t>
            </a:r>
            <a:endParaRPr lang="en-US" sz="4000">
              <a:latin typeface="Inter"/>
              <a:cs typeface="Poppins"/>
            </a:endParaRPr>
          </a:p>
          <a:p>
            <a:r>
              <a:rPr lang="en-US" sz="4000">
                <a:latin typeface="Inter"/>
                <a:cs typeface="Poppins"/>
              </a:rPr>
              <a:t>Macro economic indicators used</a:t>
            </a:r>
          </a:p>
          <a:p>
            <a:r>
              <a:rPr lang="en-US" sz="4000">
                <a:latin typeface="Inter"/>
                <a:cs typeface="Poppins"/>
              </a:rPr>
              <a:t>Agenda </a:t>
            </a:r>
          </a:p>
          <a:p>
            <a:endParaRPr lang="en-US" sz="4000">
              <a:cs typeface="Poppins"/>
            </a:endParaRPr>
          </a:p>
          <a:p>
            <a:pPr marL="0" indent="0">
              <a:buNone/>
            </a:pPr>
            <a:endParaRPr lang="en-US" sz="4000"/>
          </a:p>
          <a:p>
            <a:endParaRPr lang="en-US" sz="4000"/>
          </a:p>
          <a:p>
            <a:endParaRPr lang="en-US"/>
          </a:p>
        </p:txBody>
      </p:sp>
      <p:pic>
        <p:nvPicPr>
          <p:cNvPr id="12" name="Picture 11" descr="Unemployment free icon">
            <a:extLst>
              <a:ext uri="{FF2B5EF4-FFF2-40B4-BE49-F238E27FC236}">
                <a16:creationId xmlns:a16="http://schemas.microsoft.com/office/drawing/2014/main" id="{FC15187A-F55B-F7A5-ED53-B8E271D898E2}"/>
              </a:ext>
            </a:extLst>
          </p:cNvPr>
          <p:cNvPicPr>
            <a:picLocks noChangeAspect="1"/>
          </p:cNvPicPr>
          <p:nvPr/>
        </p:nvPicPr>
        <p:blipFill>
          <a:blip r:embed="rId3"/>
          <a:stretch>
            <a:fillRect/>
          </a:stretch>
        </p:blipFill>
        <p:spPr>
          <a:xfrm>
            <a:off x="6719428" y="7385323"/>
            <a:ext cx="2302585" cy="2285652"/>
          </a:xfrm>
          <a:prstGeom prst="rect">
            <a:avLst/>
          </a:prstGeom>
        </p:spPr>
      </p:pic>
      <p:pic>
        <p:nvPicPr>
          <p:cNvPr id="13" name="Picture 12" descr="Cpi - Free networking icons">
            <a:extLst>
              <a:ext uri="{FF2B5EF4-FFF2-40B4-BE49-F238E27FC236}">
                <a16:creationId xmlns:a16="http://schemas.microsoft.com/office/drawing/2014/main" id="{850E919E-1DBF-4798-F039-6C5E6221A5B2}"/>
              </a:ext>
            </a:extLst>
          </p:cNvPr>
          <p:cNvPicPr>
            <a:picLocks noChangeAspect="1"/>
          </p:cNvPicPr>
          <p:nvPr/>
        </p:nvPicPr>
        <p:blipFill>
          <a:blip r:embed="rId4"/>
          <a:stretch>
            <a:fillRect/>
          </a:stretch>
        </p:blipFill>
        <p:spPr>
          <a:xfrm>
            <a:off x="3800716" y="7391132"/>
            <a:ext cx="2285652" cy="2254992"/>
          </a:xfrm>
          <a:prstGeom prst="rect">
            <a:avLst/>
          </a:prstGeom>
        </p:spPr>
      </p:pic>
      <p:pic>
        <p:nvPicPr>
          <p:cNvPr id="14" name="Picture 13" descr="Download yield curve Vector Icon | Inventicons">
            <a:extLst>
              <a:ext uri="{FF2B5EF4-FFF2-40B4-BE49-F238E27FC236}">
                <a16:creationId xmlns:a16="http://schemas.microsoft.com/office/drawing/2014/main" id="{6B602F85-6254-E8E0-7249-5283549C9A8E}"/>
              </a:ext>
            </a:extLst>
          </p:cNvPr>
          <p:cNvPicPr>
            <a:picLocks noChangeAspect="1"/>
          </p:cNvPicPr>
          <p:nvPr/>
        </p:nvPicPr>
        <p:blipFill>
          <a:blip r:embed="rId5"/>
          <a:stretch>
            <a:fillRect/>
          </a:stretch>
        </p:blipFill>
        <p:spPr>
          <a:xfrm>
            <a:off x="6721821" y="9978182"/>
            <a:ext cx="2306649" cy="2454895"/>
          </a:xfrm>
          <a:prstGeom prst="rect">
            <a:avLst/>
          </a:prstGeom>
        </p:spPr>
      </p:pic>
      <p:pic>
        <p:nvPicPr>
          <p:cNvPr id="16" name="Picture 15" descr="interest rate Icon - Free PNG &amp; SVG 362645 - Noun Project">
            <a:extLst>
              <a:ext uri="{FF2B5EF4-FFF2-40B4-BE49-F238E27FC236}">
                <a16:creationId xmlns:a16="http://schemas.microsoft.com/office/drawing/2014/main" id="{00916FDB-895D-818C-1DA8-A6E572AE59F4}"/>
              </a:ext>
            </a:extLst>
          </p:cNvPr>
          <p:cNvPicPr>
            <a:picLocks noChangeAspect="1"/>
          </p:cNvPicPr>
          <p:nvPr/>
        </p:nvPicPr>
        <p:blipFill>
          <a:blip r:embed="rId6"/>
          <a:stretch>
            <a:fillRect/>
          </a:stretch>
        </p:blipFill>
        <p:spPr>
          <a:xfrm>
            <a:off x="3826417" y="9970148"/>
            <a:ext cx="2226187" cy="2073787"/>
          </a:xfrm>
          <a:prstGeom prst="rect">
            <a:avLst/>
          </a:prstGeom>
        </p:spPr>
      </p:pic>
    </p:spTree>
    <p:extLst>
      <p:ext uri="{BB962C8B-B14F-4D97-AF65-F5344CB8AC3E}">
        <p14:creationId xmlns:p14="http://schemas.microsoft.com/office/powerpoint/2010/main" val="1122040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C7494-56E1-75F2-1FD9-6206DB635149}"/>
              </a:ext>
            </a:extLst>
          </p:cNvPr>
          <p:cNvSpPr>
            <a:spLocks noGrp="1"/>
          </p:cNvSpPr>
          <p:nvPr>
            <p:ph type="title"/>
          </p:nvPr>
        </p:nvSpPr>
        <p:spPr/>
        <p:txBody>
          <a:bodyPr/>
          <a:lstStyle/>
          <a:p>
            <a:r>
              <a:rPr lang="en-US"/>
              <a:t>Steps we took</a:t>
            </a:r>
          </a:p>
        </p:txBody>
      </p:sp>
      <p:sp>
        <p:nvSpPr>
          <p:cNvPr id="4" name="Text Placeholder 3">
            <a:extLst>
              <a:ext uri="{FF2B5EF4-FFF2-40B4-BE49-F238E27FC236}">
                <a16:creationId xmlns:a16="http://schemas.microsoft.com/office/drawing/2014/main" id="{0233AB16-D061-64A3-3274-5B614FE75304}"/>
              </a:ext>
            </a:extLst>
          </p:cNvPr>
          <p:cNvSpPr>
            <a:spLocks noGrp="1"/>
          </p:cNvSpPr>
          <p:nvPr>
            <p:ph type="body" sz="quarter" idx="15"/>
          </p:nvPr>
        </p:nvSpPr>
        <p:spPr>
          <a:xfrm>
            <a:off x="914400" y="3404937"/>
            <a:ext cx="10380663" cy="8490857"/>
          </a:xfrm>
        </p:spPr>
        <p:txBody>
          <a:bodyPr vert="horz" lIns="91440" tIns="45720" rIns="91440" bIns="45720" rtlCol="0" anchor="t">
            <a:normAutofit/>
          </a:bodyPr>
          <a:lstStyle/>
          <a:p>
            <a:pPr marL="742950" indent="-742950">
              <a:buFont typeface="+mj-lt"/>
              <a:buAutoNum type="arabicPeriod"/>
            </a:pPr>
            <a:r>
              <a:rPr lang="en-US" sz="4000">
                <a:latin typeface="Inter"/>
                <a:cs typeface="Poppins"/>
              </a:rPr>
              <a:t>Downloading Data and Exploratory Data Analysis (EDA)</a:t>
            </a:r>
          </a:p>
          <a:p>
            <a:pPr marL="742950" indent="-742950">
              <a:buFont typeface="+mj-lt"/>
              <a:buAutoNum type="arabicPeriod"/>
            </a:pPr>
            <a:r>
              <a:rPr lang="en-US" sz="4000">
                <a:latin typeface="Inter"/>
                <a:cs typeface="Poppins"/>
              </a:rPr>
              <a:t>Indicator Lagging and Feature Engineering</a:t>
            </a:r>
          </a:p>
          <a:p>
            <a:pPr marL="742950" indent="-742950">
              <a:buFont typeface="+mj-lt"/>
              <a:buAutoNum type="arabicPeriod"/>
            </a:pPr>
            <a:r>
              <a:rPr lang="en-US" sz="4000">
                <a:latin typeface="Inter"/>
                <a:cs typeface="Poppins"/>
              </a:rPr>
              <a:t>Single Variable Regressions </a:t>
            </a:r>
          </a:p>
          <a:p>
            <a:pPr marL="742950" indent="-742950">
              <a:buFont typeface="+mj-lt"/>
              <a:buAutoNum type="arabicPeriod"/>
            </a:pPr>
            <a:r>
              <a:rPr lang="en-US" sz="4000">
                <a:latin typeface="Inter"/>
                <a:cs typeface="Poppins"/>
              </a:rPr>
              <a:t>Multivariable Regression</a:t>
            </a:r>
          </a:p>
          <a:p>
            <a:pPr marL="742950" indent="-742950">
              <a:buFont typeface="+mj-lt"/>
              <a:buAutoNum type="arabicPeriod"/>
            </a:pPr>
            <a:r>
              <a:rPr lang="en-US" sz="4000">
                <a:latin typeface="Inter"/>
                <a:cs typeface="Poppins"/>
              </a:rPr>
              <a:t>Rolling Window Analysis</a:t>
            </a:r>
          </a:p>
          <a:p>
            <a:pPr marL="742950" indent="-742950">
              <a:buFont typeface="+mj-lt"/>
              <a:buAutoNum type="arabicPeriod"/>
            </a:pPr>
            <a:r>
              <a:rPr lang="en-US" sz="4000">
                <a:latin typeface="Inter"/>
                <a:cs typeface="Poppins"/>
              </a:rPr>
              <a:t>Granger Causality Tests</a:t>
            </a:r>
          </a:p>
          <a:p>
            <a:pPr marL="742950" indent="-742950">
              <a:buFont typeface="+mj-lt"/>
              <a:buAutoNum type="arabicPeriod"/>
            </a:pPr>
            <a:r>
              <a:rPr lang="en-US" sz="4000">
                <a:latin typeface="Inter"/>
                <a:cs typeface="Poppins"/>
              </a:rPr>
              <a:t>Relationships and Conclusions</a:t>
            </a:r>
            <a:endParaRPr lang="en-US" sz="4000"/>
          </a:p>
        </p:txBody>
      </p:sp>
    </p:spTree>
    <p:extLst>
      <p:ext uri="{BB962C8B-B14F-4D97-AF65-F5344CB8AC3E}">
        <p14:creationId xmlns:p14="http://schemas.microsoft.com/office/powerpoint/2010/main" val="1196452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C632-7764-568A-C7FC-9F4AC39163D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1353D64-8A59-23E8-97F9-2C0035D495F7}"/>
              </a:ext>
            </a:extLst>
          </p:cNvPr>
          <p:cNvSpPr>
            <a:spLocks noGrp="1"/>
          </p:cNvSpPr>
          <p:nvPr>
            <p:ph sz="half" idx="2"/>
          </p:nvPr>
        </p:nvSpPr>
        <p:spPr>
          <a:xfrm>
            <a:off x="1062925" y="3334588"/>
            <a:ext cx="9594936" cy="9146972"/>
          </a:xfrm>
        </p:spPr>
        <p:txBody>
          <a:bodyPr vert="horz" lIns="91440" tIns="45720" rIns="91440" bIns="45720" rtlCol="0">
            <a:normAutofit/>
          </a:bodyPr>
          <a:lstStyle/>
          <a:p>
            <a:r>
              <a:rPr lang="en-US" sz="4000"/>
              <a:t>Imported Libraries</a:t>
            </a:r>
          </a:p>
          <a:p>
            <a:r>
              <a:rPr lang="en-US" sz="4000"/>
              <a:t>Defined Macro Variables</a:t>
            </a:r>
          </a:p>
          <a:p>
            <a:r>
              <a:rPr lang="en-US" sz="4000"/>
              <a:t>Download SPY monthly returns</a:t>
            </a:r>
          </a:p>
          <a:p>
            <a:r>
              <a:rPr lang="en-US" sz="4000"/>
              <a:t>Cleaned Data</a:t>
            </a:r>
          </a:p>
          <a:p>
            <a:r>
              <a:rPr lang="en-US" sz="4000"/>
              <a:t>303 monthly observations </a:t>
            </a:r>
          </a:p>
          <a:p>
            <a:r>
              <a:rPr lang="en-US" sz="4000"/>
              <a:t>02/29/2000-04/30/2025</a:t>
            </a:r>
          </a:p>
        </p:txBody>
      </p:sp>
      <p:sp>
        <p:nvSpPr>
          <p:cNvPr id="5" name="Slide Number Placeholder 4">
            <a:extLst>
              <a:ext uri="{FF2B5EF4-FFF2-40B4-BE49-F238E27FC236}">
                <a16:creationId xmlns:a16="http://schemas.microsoft.com/office/drawing/2014/main" id="{2C9F0A59-4189-BD56-FCCF-D5DF402014F4}"/>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5</a:t>
            </a:fld>
            <a:endParaRPr lang="en-US"/>
          </a:p>
        </p:txBody>
      </p:sp>
      <p:sp>
        <p:nvSpPr>
          <p:cNvPr id="6" name="Title 5">
            <a:extLst>
              <a:ext uri="{FF2B5EF4-FFF2-40B4-BE49-F238E27FC236}">
                <a16:creationId xmlns:a16="http://schemas.microsoft.com/office/drawing/2014/main" id="{7227299B-8512-10B0-622E-C1DC7995537D}"/>
              </a:ext>
            </a:extLst>
          </p:cNvPr>
          <p:cNvSpPr>
            <a:spLocks noGrp="1"/>
          </p:cNvSpPr>
          <p:nvPr>
            <p:ph type="title"/>
          </p:nvPr>
        </p:nvSpPr>
        <p:spPr>
          <a:xfrm>
            <a:off x="914399" y="1143000"/>
            <a:ext cx="22837141" cy="1371600"/>
          </a:xfrm>
        </p:spPr>
        <p:txBody>
          <a:bodyPr vert="horz" lIns="91440" tIns="45720" rIns="91440" bIns="45720" rtlCol="0" anchor="ctr">
            <a:normAutofit/>
          </a:bodyPr>
          <a:lstStyle/>
          <a:p>
            <a:r>
              <a:rPr lang="en-US" sz="6700" b="1" i="0" kern="1200"/>
              <a:t>Downloading Data </a:t>
            </a:r>
            <a:r>
              <a:rPr lang="en-US" sz="6700"/>
              <a:t>&amp;</a:t>
            </a:r>
            <a:r>
              <a:rPr lang="en-US" sz="6700" b="1" i="0" kern="1200"/>
              <a:t> Exploratory Data Analysis (EDA)</a:t>
            </a:r>
            <a:endParaRPr lang="en-US" sz="6700"/>
          </a:p>
        </p:txBody>
      </p:sp>
      <p:graphicFrame>
        <p:nvGraphicFramePr>
          <p:cNvPr id="15" name="Content Placeholder 14">
            <a:extLst>
              <a:ext uri="{FF2B5EF4-FFF2-40B4-BE49-F238E27FC236}">
                <a16:creationId xmlns:a16="http://schemas.microsoft.com/office/drawing/2014/main" id="{6911BCD8-F1D0-7199-6FA0-96C29F42E691}"/>
              </a:ext>
            </a:extLst>
          </p:cNvPr>
          <p:cNvGraphicFramePr>
            <a:graphicFrameLocks noGrp="1"/>
          </p:cNvGraphicFramePr>
          <p:nvPr>
            <p:ph sz="half" idx="1"/>
            <p:extLst>
              <p:ext uri="{D42A27DB-BD31-4B8C-83A1-F6EECF244321}">
                <p14:modId xmlns:p14="http://schemas.microsoft.com/office/powerpoint/2010/main" val="3157241290"/>
              </p:ext>
            </p:extLst>
          </p:nvPr>
        </p:nvGraphicFramePr>
        <p:xfrm>
          <a:off x="10995902" y="3008991"/>
          <a:ext cx="12093516" cy="4027792"/>
        </p:xfrm>
        <a:graphic>
          <a:graphicData uri="http://schemas.openxmlformats.org/drawingml/2006/table">
            <a:tbl>
              <a:tblPr firstRow="1" bandRow="1">
                <a:tableStyleId>{2D5ABB26-0587-4C30-8999-92F81FD0307C}</a:tableStyleId>
              </a:tblPr>
              <a:tblGrid>
                <a:gridCol w="1687418">
                  <a:extLst>
                    <a:ext uri="{9D8B030D-6E8A-4147-A177-3AD203B41FA5}">
                      <a16:colId xmlns:a16="http://schemas.microsoft.com/office/drawing/2014/main" val="2027890071"/>
                    </a:ext>
                  </a:extLst>
                </a:gridCol>
                <a:gridCol w="3352394">
                  <a:extLst>
                    <a:ext uri="{9D8B030D-6E8A-4147-A177-3AD203B41FA5}">
                      <a16:colId xmlns:a16="http://schemas.microsoft.com/office/drawing/2014/main" val="4215632177"/>
                    </a:ext>
                  </a:extLst>
                </a:gridCol>
                <a:gridCol w="2183290">
                  <a:extLst>
                    <a:ext uri="{9D8B030D-6E8A-4147-A177-3AD203B41FA5}">
                      <a16:colId xmlns:a16="http://schemas.microsoft.com/office/drawing/2014/main" val="3323536338"/>
                    </a:ext>
                  </a:extLst>
                </a:gridCol>
                <a:gridCol w="1886490">
                  <a:extLst>
                    <a:ext uri="{9D8B030D-6E8A-4147-A177-3AD203B41FA5}">
                      <a16:colId xmlns:a16="http://schemas.microsoft.com/office/drawing/2014/main" val="2398642304"/>
                    </a:ext>
                  </a:extLst>
                </a:gridCol>
                <a:gridCol w="1506440">
                  <a:extLst>
                    <a:ext uri="{9D8B030D-6E8A-4147-A177-3AD203B41FA5}">
                      <a16:colId xmlns:a16="http://schemas.microsoft.com/office/drawing/2014/main" val="1543700349"/>
                    </a:ext>
                  </a:extLst>
                </a:gridCol>
                <a:gridCol w="1477484">
                  <a:extLst>
                    <a:ext uri="{9D8B030D-6E8A-4147-A177-3AD203B41FA5}">
                      <a16:colId xmlns:a16="http://schemas.microsoft.com/office/drawing/2014/main" val="1201364935"/>
                    </a:ext>
                  </a:extLst>
                </a:gridCol>
              </a:tblGrid>
              <a:tr h="1064497">
                <a:tc>
                  <a:txBody>
                    <a:bodyPr/>
                    <a:lstStyle/>
                    <a:p>
                      <a:pPr algn="ctr" fontAlgn="ctr"/>
                      <a:r>
                        <a:rPr lang="en-US" sz="2800" b="1" i="0" u="none" strike="noStrike">
                          <a:solidFill>
                            <a:srgbClr val="FFFFFF"/>
                          </a:solidFill>
                          <a:effectLst/>
                          <a:latin typeface="Inter" panose="02000503000000020004" pitchFamily="2" charset="0"/>
                          <a:ea typeface="Inter" panose="02000503000000020004" pitchFamily="2" charset="0"/>
                        </a:rPr>
                        <a:t>Date</a:t>
                      </a:r>
                    </a:p>
                  </a:txBody>
                  <a:tcPr marL="12364" marR="12364" marT="12364" marB="0" anchor="ctr">
                    <a:solidFill>
                      <a:srgbClr val="026A94"/>
                    </a:solidFill>
                  </a:tcPr>
                </a:tc>
                <a:tc>
                  <a:txBody>
                    <a:bodyPr/>
                    <a:lstStyle/>
                    <a:p>
                      <a:pPr algn="ctr" fontAlgn="ctr">
                        <a:buNone/>
                      </a:pPr>
                      <a:r>
                        <a:rPr lang="en-US" sz="2800" b="1" u="none" strike="noStrike">
                          <a:solidFill>
                            <a:srgbClr val="FFFFFF"/>
                          </a:solidFill>
                          <a:effectLst/>
                        </a:rPr>
                        <a:t>Unemployment Rate</a:t>
                      </a:r>
                      <a:endParaRPr lang="en-US" sz="2800" b="1" i="0" u="none" strike="noStrike">
                        <a:solidFill>
                          <a:srgbClr val="FFFFFF"/>
                        </a:solidFill>
                        <a:effectLst/>
                        <a:latin typeface="Inter" panose="02000503000000020004" pitchFamily="2" charset="0"/>
                        <a:ea typeface="Inter" panose="02000503000000020004" pitchFamily="2" charset="0"/>
                      </a:endParaRPr>
                    </a:p>
                  </a:txBody>
                  <a:tcPr marL="12364" marR="12364" marT="12364" marB="0" anchor="ctr">
                    <a:solidFill>
                      <a:srgbClr val="026A94"/>
                    </a:solidFill>
                  </a:tcPr>
                </a:tc>
                <a:tc>
                  <a:txBody>
                    <a:bodyPr/>
                    <a:lstStyle/>
                    <a:p>
                      <a:pPr algn="ctr" fontAlgn="ctr"/>
                      <a:r>
                        <a:rPr lang="en-US" sz="2800" b="1" u="none" strike="noStrike">
                          <a:solidFill>
                            <a:srgbClr val="FFFFFF"/>
                          </a:solidFill>
                          <a:effectLst/>
                        </a:rPr>
                        <a:t>10Y-2Y Yield Spread</a:t>
                      </a:r>
                      <a:endParaRPr lang="en-US" sz="2800" b="1" i="0" u="none" strike="noStrike">
                        <a:solidFill>
                          <a:srgbClr val="FFFFFF"/>
                        </a:solidFill>
                        <a:effectLst/>
                        <a:latin typeface="Inter" panose="02000503000000020004" pitchFamily="2" charset="0"/>
                        <a:ea typeface="Inter" panose="02000503000000020004" pitchFamily="2" charset="0"/>
                      </a:endParaRPr>
                    </a:p>
                  </a:txBody>
                  <a:tcPr marL="12364" marR="12364" marT="12364" marB="0" anchor="ctr">
                    <a:solidFill>
                      <a:srgbClr val="026A94"/>
                    </a:solidFill>
                  </a:tcPr>
                </a:tc>
                <a:tc>
                  <a:txBody>
                    <a:bodyPr/>
                    <a:lstStyle/>
                    <a:p>
                      <a:pPr algn="ctr" fontAlgn="ctr"/>
                      <a:r>
                        <a:rPr lang="en-US" sz="2800" b="1" u="none" strike="noStrike">
                          <a:solidFill>
                            <a:srgbClr val="FFFFFF"/>
                          </a:solidFill>
                          <a:effectLst/>
                        </a:rPr>
                        <a:t>Fed Funds Rate</a:t>
                      </a:r>
                      <a:endParaRPr lang="en-US" sz="2800" b="1" i="0" u="none" strike="noStrike">
                        <a:solidFill>
                          <a:srgbClr val="FFFFFF"/>
                        </a:solidFill>
                        <a:effectLst/>
                        <a:latin typeface="Inter" panose="02000503000000020004" pitchFamily="2" charset="0"/>
                        <a:ea typeface="Inter" panose="02000503000000020004" pitchFamily="2" charset="0"/>
                      </a:endParaRPr>
                    </a:p>
                  </a:txBody>
                  <a:tcPr marL="12364" marR="12364" marT="12364" marB="0" anchor="ctr">
                    <a:solidFill>
                      <a:srgbClr val="026A94"/>
                    </a:solidFill>
                  </a:tcPr>
                </a:tc>
                <a:tc>
                  <a:txBody>
                    <a:bodyPr/>
                    <a:lstStyle/>
                    <a:p>
                      <a:pPr algn="ctr" fontAlgn="ctr"/>
                      <a:r>
                        <a:rPr lang="en-US" sz="2800" b="1" u="none" strike="noStrike">
                          <a:solidFill>
                            <a:srgbClr val="FFFFFF"/>
                          </a:solidFill>
                          <a:effectLst/>
                        </a:rPr>
                        <a:t>CPI Inflation</a:t>
                      </a:r>
                      <a:endParaRPr lang="en-US" sz="2800" b="1" i="0" u="none" strike="noStrike">
                        <a:solidFill>
                          <a:srgbClr val="FFFFFF"/>
                        </a:solidFill>
                        <a:effectLst/>
                        <a:latin typeface="Inter" panose="02000503000000020004" pitchFamily="2" charset="0"/>
                        <a:ea typeface="Inter" panose="02000503000000020004" pitchFamily="2" charset="0"/>
                      </a:endParaRPr>
                    </a:p>
                  </a:txBody>
                  <a:tcPr marL="12364" marR="12364" marT="12364" marB="0" anchor="ctr">
                    <a:solidFill>
                      <a:srgbClr val="026A94"/>
                    </a:solidFill>
                  </a:tcPr>
                </a:tc>
                <a:tc>
                  <a:txBody>
                    <a:bodyPr/>
                    <a:lstStyle/>
                    <a:p>
                      <a:pPr algn="ctr" fontAlgn="ctr"/>
                      <a:r>
                        <a:rPr lang="en-US" sz="2800" b="1" u="none" strike="noStrike">
                          <a:solidFill>
                            <a:srgbClr val="FFFFFF"/>
                          </a:solidFill>
                          <a:effectLst/>
                        </a:rPr>
                        <a:t>SPY Returns</a:t>
                      </a:r>
                      <a:endParaRPr lang="en-US" sz="2800" b="1" i="0" u="none" strike="noStrike">
                        <a:solidFill>
                          <a:srgbClr val="FFFFFF"/>
                        </a:solidFill>
                        <a:effectLst/>
                        <a:latin typeface="Inter" panose="02000503000000020004" pitchFamily="2" charset="0"/>
                        <a:ea typeface="Inter" panose="02000503000000020004" pitchFamily="2" charset="0"/>
                      </a:endParaRPr>
                    </a:p>
                  </a:txBody>
                  <a:tcPr marL="12364" marR="12364" marT="12364" marB="0" anchor="ctr">
                    <a:solidFill>
                      <a:srgbClr val="026A94"/>
                    </a:solidFill>
                  </a:tcPr>
                </a:tc>
                <a:extLst>
                  <a:ext uri="{0D108BD9-81ED-4DB2-BD59-A6C34878D82A}">
                    <a16:rowId xmlns:a16="http://schemas.microsoft.com/office/drawing/2014/main" val="2535306095"/>
                  </a:ext>
                </a:extLst>
              </a:tr>
              <a:tr h="592659">
                <a:tc>
                  <a:txBody>
                    <a:bodyPr/>
                    <a:lstStyle/>
                    <a:p>
                      <a:pPr algn="ctr" fontAlgn="ctr"/>
                      <a:r>
                        <a:rPr lang="en-US" sz="2800" b="1" u="none" strike="noStrike">
                          <a:solidFill>
                            <a:srgbClr val="000000"/>
                          </a:solidFill>
                          <a:effectLst/>
                        </a:rPr>
                        <a:t>2/29/2000</a:t>
                      </a:r>
                      <a:endParaRPr lang="en-US" sz="2800" b="1"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4.1</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-0.11</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5.73</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170</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-0.0152</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extLst>
                  <a:ext uri="{0D108BD9-81ED-4DB2-BD59-A6C34878D82A}">
                    <a16:rowId xmlns:a16="http://schemas.microsoft.com/office/drawing/2014/main" val="3005102899"/>
                  </a:ext>
                </a:extLst>
              </a:tr>
              <a:tr h="592659">
                <a:tc>
                  <a:txBody>
                    <a:bodyPr/>
                    <a:lstStyle/>
                    <a:p>
                      <a:pPr algn="ctr" fontAlgn="ctr"/>
                      <a:r>
                        <a:rPr lang="en-US" sz="2800" b="1" u="none" strike="noStrike">
                          <a:solidFill>
                            <a:srgbClr val="000000"/>
                          </a:solidFill>
                          <a:effectLst/>
                        </a:rPr>
                        <a:t>3/31/2000</a:t>
                      </a:r>
                      <a:endParaRPr lang="en-US" sz="2800" b="1"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4</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-0.47</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5.85</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171</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0.0941</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extLst>
                  <a:ext uri="{0D108BD9-81ED-4DB2-BD59-A6C34878D82A}">
                    <a16:rowId xmlns:a16="http://schemas.microsoft.com/office/drawing/2014/main" val="665891525"/>
                  </a:ext>
                </a:extLst>
              </a:tr>
              <a:tr h="592659">
                <a:tc>
                  <a:txBody>
                    <a:bodyPr/>
                    <a:lstStyle/>
                    <a:p>
                      <a:pPr algn="ctr" fontAlgn="ctr"/>
                      <a:r>
                        <a:rPr lang="en-US" sz="2800" b="1" u="none" strike="noStrike">
                          <a:solidFill>
                            <a:srgbClr val="000000"/>
                          </a:solidFill>
                          <a:effectLst/>
                        </a:rPr>
                        <a:t>4/30/2000</a:t>
                      </a:r>
                      <a:endParaRPr lang="en-US" sz="2800" b="1"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3.8</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-0.45</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6.02</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170.9</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-0.0327</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extLst>
                  <a:ext uri="{0D108BD9-81ED-4DB2-BD59-A6C34878D82A}">
                    <a16:rowId xmlns:a16="http://schemas.microsoft.com/office/drawing/2014/main" val="1668843982"/>
                  </a:ext>
                </a:extLst>
              </a:tr>
              <a:tr h="592659">
                <a:tc>
                  <a:txBody>
                    <a:bodyPr/>
                    <a:lstStyle/>
                    <a:p>
                      <a:pPr algn="ctr" fontAlgn="ctr"/>
                      <a:r>
                        <a:rPr lang="en-US" sz="2800" b="1" u="none" strike="noStrike">
                          <a:solidFill>
                            <a:srgbClr val="000000"/>
                          </a:solidFill>
                          <a:effectLst/>
                        </a:rPr>
                        <a:t>5/31/2000</a:t>
                      </a:r>
                      <a:endParaRPr lang="en-US" sz="2800" b="1"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4</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-0.4</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6.27</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171.2</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-0.0157</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extLst>
                  <a:ext uri="{0D108BD9-81ED-4DB2-BD59-A6C34878D82A}">
                    <a16:rowId xmlns:a16="http://schemas.microsoft.com/office/drawing/2014/main" val="1695734360"/>
                  </a:ext>
                </a:extLst>
              </a:tr>
              <a:tr h="592659">
                <a:tc>
                  <a:txBody>
                    <a:bodyPr/>
                    <a:lstStyle/>
                    <a:p>
                      <a:pPr algn="ctr" fontAlgn="ctr"/>
                      <a:r>
                        <a:rPr lang="en-US" sz="2800" b="1" u="none" strike="noStrike">
                          <a:solidFill>
                            <a:srgbClr val="000000"/>
                          </a:solidFill>
                          <a:effectLst/>
                        </a:rPr>
                        <a:t>6/30/2000</a:t>
                      </a:r>
                      <a:endParaRPr lang="en-US" sz="2800" b="1"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4</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-0.35</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6.53</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r>
                        <a:rPr lang="en-US" sz="2800" b="0" u="none" strike="noStrike">
                          <a:solidFill>
                            <a:srgbClr val="000000"/>
                          </a:solidFill>
                          <a:effectLst/>
                        </a:rPr>
                        <a:t>172.2</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tc>
                  <a:txBody>
                    <a:bodyPr/>
                    <a:lstStyle/>
                    <a:p>
                      <a:pPr algn="ctr" fontAlgn="ctr">
                        <a:buNone/>
                      </a:pPr>
                      <a:r>
                        <a:rPr lang="en-US" sz="2800" b="0" u="none" strike="noStrike">
                          <a:solidFill>
                            <a:srgbClr val="000000"/>
                          </a:solidFill>
                          <a:effectLst/>
                        </a:rPr>
                        <a:t>0.0173 </a:t>
                      </a:r>
                      <a:endParaRPr lang="en-US" sz="2800" b="0" i="0" u="none" strike="noStrike">
                        <a:solidFill>
                          <a:srgbClr val="000000"/>
                        </a:solidFill>
                        <a:effectLst/>
                        <a:latin typeface="Inter" panose="02000503000000020004" pitchFamily="2" charset="0"/>
                        <a:ea typeface="Inter" panose="02000503000000020004" pitchFamily="2" charset="0"/>
                      </a:endParaRPr>
                    </a:p>
                  </a:txBody>
                  <a:tcPr marL="12364" marR="12364" marT="12364" marB="0" anchor="ctr"/>
                </a:tc>
                <a:extLst>
                  <a:ext uri="{0D108BD9-81ED-4DB2-BD59-A6C34878D82A}">
                    <a16:rowId xmlns:a16="http://schemas.microsoft.com/office/drawing/2014/main" val="3276711993"/>
                  </a:ext>
                </a:extLst>
              </a:tr>
            </a:tbl>
          </a:graphicData>
        </a:graphic>
      </p:graphicFrame>
      <p:pic>
        <p:nvPicPr>
          <p:cNvPr id="18" name="Picture 17" descr="A screen shot of a computer program&#10;&#10;AI-generated content may be incorrect.">
            <a:extLst>
              <a:ext uri="{FF2B5EF4-FFF2-40B4-BE49-F238E27FC236}">
                <a16:creationId xmlns:a16="http://schemas.microsoft.com/office/drawing/2014/main" id="{A0DE887C-3E23-2160-0807-2B608EE395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42660" y="9109491"/>
            <a:ext cx="6411220" cy="3463509"/>
          </a:xfrm>
          <a:prstGeom prst="rect">
            <a:avLst/>
          </a:prstGeom>
        </p:spPr>
      </p:pic>
      <p:pic>
        <p:nvPicPr>
          <p:cNvPr id="21" name="Picture 20" descr="A computer screen with many colorful text&#10;&#10;AI-generated content may be incorrect.">
            <a:extLst>
              <a:ext uri="{FF2B5EF4-FFF2-40B4-BE49-F238E27FC236}">
                <a16:creationId xmlns:a16="http://schemas.microsoft.com/office/drawing/2014/main" id="{AF4BC410-5FFC-BA46-76BF-9977F81F92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52778" y="9109491"/>
            <a:ext cx="5619469" cy="3463509"/>
          </a:xfrm>
          <a:prstGeom prst="rect">
            <a:avLst/>
          </a:prstGeom>
        </p:spPr>
      </p:pic>
    </p:spTree>
    <p:extLst>
      <p:ext uri="{BB962C8B-B14F-4D97-AF65-F5344CB8AC3E}">
        <p14:creationId xmlns:p14="http://schemas.microsoft.com/office/powerpoint/2010/main" val="2012267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D679BC-AC19-4BC4-FF54-E2DB47C9D705}"/>
              </a:ext>
            </a:extLst>
          </p:cNvPr>
          <p:cNvSpPr>
            <a:spLocks noGrp="1"/>
          </p:cNvSpPr>
          <p:nvPr>
            <p:ph sz="half" idx="2"/>
          </p:nvPr>
        </p:nvSpPr>
        <p:spPr>
          <a:xfrm>
            <a:off x="1102657" y="2971800"/>
            <a:ext cx="10327342" cy="9146972"/>
          </a:xfrm>
        </p:spPr>
        <p:txBody>
          <a:bodyPr vert="horz" lIns="91440" tIns="45720" rIns="91440" bIns="45720" rtlCol="0">
            <a:normAutofit/>
          </a:bodyPr>
          <a:lstStyle/>
          <a:p>
            <a:r>
              <a:rPr lang="en-US" sz="4000"/>
              <a:t>Created Lagged macroeconomic features to capture delayed market responses </a:t>
            </a:r>
          </a:p>
          <a:p>
            <a:r>
              <a:rPr lang="en-US" sz="4000"/>
              <a:t>Built 1-month, and 3-month lags for each macro indicator </a:t>
            </a:r>
          </a:p>
          <a:p>
            <a:r>
              <a:rPr lang="en-US" sz="4000"/>
              <a:t>Purpose of Lagging</a:t>
            </a:r>
          </a:p>
          <a:p>
            <a:pPr lvl="1"/>
            <a:r>
              <a:rPr lang="en-US" sz="4000"/>
              <a:t>Avoid Lookahead Bias </a:t>
            </a:r>
          </a:p>
          <a:p>
            <a:pPr lvl="1"/>
            <a:r>
              <a:rPr lang="en-US" sz="4000"/>
              <a:t>Reflect that economic reports are released after the month ends.</a:t>
            </a:r>
          </a:p>
          <a:p>
            <a:endParaRPr lang="en-US"/>
          </a:p>
          <a:p>
            <a:endParaRPr lang="en-US"/>
          </a:p>
          <a:p>
            <a:endParaRPr lang="en-US"/>
          </a:p>
          <a:p>
            <a:endParaRPr lang="en-US"/>
          </a:p>
        </p:txBody>
      </p:sp>
      <p:sp>
        <p:nvSpPr>
          <p:cNvPr id="5" name="Slide Number Placeholder 4">
            <a:extLst>
              <a:ext uri="{FF2B5EF4-FFF2-40B4-BE49-F238E27FC236}">
                <a16:creationId xmlns:a16="http://schemas.microsoft.com/office/drawing/2014/main" id="{E7F55F47-2346-E286-136D-4359B21BBF52}"/>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6</a:t>
            </a:fld>
            <a:endParaRPr lang="en-US"/>
          </a:p>
        </p:txBody>
      </p:sp>
      <p:sp>
        <p:nvSpPr>
          <p:cNvPr id="6" name="Title 5">
            <a:extLst>
              <a:ext uri="{FF2B5EF4-FFF2-40B4-BE49-F238E27FC236}">
                <a16:creationId xmlns:a16="http://schemas.microsoft.com/office/drawing/2014/main" id="{A2E98F55-430D-2F74-BEC6-71CF42D9ACEA}"/>
              </a:ext>
            </a:extLst>
          </p:cNvPr>
          <p:cNvSpPr>
            <a:spLocks noGrp="1"/>
          </p:cNvSpPr>
          <p:nvPr>
            <p:ph type="title"/>
          </p:nvPr>
        </p:nvSpPr>
        <p:spPr>
          <a:xfrm>
            <a:off x="914399" y="1143000"/>
            <a:ext cx="21031201" cy="1371600"/>
          </a:xfrm>
        </p:spPr>
        <p:txBody>
          <a:bodyPr anchor="ctr">
            <a:normAutofit/>
          </a:bodyPr>
          <a:lstStyle/>
          <a:p>
            <a:r>
              <a:rPr lang="en-US" b="1" i="0" kern="1200"/>
              <a:t>Indicator Lagging and Feature Engineering</a:t>
            </a:r>
            <a:endParaRPr lang="en-US"/>
          </a:p>
        </p:txBody>
      </p:sp>
      <p:graphicFrame>
        <p:nvGraphicFramePr>
          <p:cNvPr id="15" name="Content Placeholder 14">
            <a:extLst>
              <a:ext uri="{FF2B5EF4-FFF2-40B4-BE49-F238E27FC236}">
                <a16:creationId xmlns:a16="http://schemas.microsoft.com/office/drawing/2014/main" id="{7D5CC027-271E-F1F2-0779-5BEDBFAB22AA}"/>
              </a:ext>
            </a:extLst>
          </p:cNvPr>
          <p:cNvGraphicFramePr>
            <a:graphicFrameLocks noGrp="1"/>
          </p:cNvGraphicFramePr>
          <p:nvPr>
            <p:ph sz="half" idx="1"/>
            <p:extLst>
              <p:ext uri="{D42A27DB-BD31-4B8C-83A1-F6EECF244321}">
                <p14:modId xmlns:p14="http://schemas.microsoft.com/office/powerpoint/2010/main" val="1380997082"/>
              </p:ext>
            </p:extLst>
          </p:nvPr>
        </p:nvGraphicFramePr>
        <p:xfrm>
          <a:off x="11869820" y="3268980"/>
          <a:ext cx="11979737" cy="4892039"/>
        </p:xfrm>
        <a:graphic>
          <a:graphicData uri="http://schemas.openxmlformats.org/drawingml/2006/table">
            <a:tbl>
              <a:tblPr>
                <a:tableStyleId>{4C3C2611-4C71-4FC5-86AE-919BDF0F9419}</a:tableStyleId>
              </a:tblPr>
              <a:tblGrid>
                <a:gridCol w="2009343">
                  <a:extLst>
                    <a:ext uri="{9D8B030D-6E8A-4147-A177-3AD203B41FA5}">
                      <a16:colId xmlns:a16="http://schemas.microsoft.com/office/drawing/2014/main" val="960937320"/>
                    </a:ext>
                  </a:extLst>
                </a:gridCol>
                <a:gridCol w="1756643">
                  <a:extLst>
                    <a:ext uri="{9D8B030D-6E8A-4147-A177-3AD203B41FA5}">
                      <a16:colId xmlns:a16="http://schemas.microsoft.com/office/drawing/2014/main" val="3772767353"/>
                    </a:ext>
                  </a:extLst>
                </a:gridCol>
                <a:gridCol w="1704435">
                  <a:extLst>
                    <a:ext uri="{9D8B030D-6E8A-4147-A177-3AD203B41FA5}">
                      <a16:colId xmlns:a16="http://schemas.microsoft.com/office/drawing/2014/main" val="3446581967"/>
                    </a:ext>
                  </a:extLst>
                </a:gridCol>
                <a:gridCol w="3262773">
                  <a:extLst>
                    <a:ext uri="{9D8B030D-6E8A-4147-A177-3AD203B41FA5}">
                      <a16:colId xmlns:a16="http://schemas.microsoft.com/office/drawing/2014/main" val="2613026424"/>
                    </a:ext>
                  </a:extLst>
                </a:gridCol>
                <a:gridCol w="3246543">
                  <a:extLst>
                    <a:ext uri="{9D8B030D-6E8A-4147-A177-3AD203B41FA5}">
                      <a16:colId xmlns:a16="http://schemas.microsoft.com/office/drawing/2014/main" val="3856272755"/>
                    </a:ext>
                  </a:extLst>
                </a:gridCol>
              </a:tblGrid>
              <a:tr h="1292909">
                <a:tc>
                  <a:txBody>
                    <a:bodyPr/>
                    <a:lstStyle/>
                    <a:p>
                      <a:pPr algn="ctr" fontAlgn="b">
                        <a:buNone/>
                      </a:pPr>
                      <a:r>
                        <a:rPr lang="en-US" sz="3200" b="1" u="none" strike="noStrike">
                          <a:solidFill>
                            <a:srgbClr val="FFFFFF"/>
                          </a:solidFill>
                          <a:effectLst/>
                          <a:latin typeface="Inter" panose="02000503000000020004" pitchFamily="2" charset="0"/>
                          <a:ea typeface="Inter" panose="02000503000000020004" pitchFamily="2" charset="0"/>
                        </a:rPr>
                        <a:t>Date</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solidFill>
                      <a:srgbClr val="026A94"/>
                    </a:solidFill>
                  </a:tcPr>
                </a:tc>
                <a:tc>
                  <a:txBody>
                    <a:bodyPr/>
                    <a:lstStyle/>
                    <a:p>
                      <a:pPr algn="ctr" fontAlgn="b">
                        <a:buNone/>
                      </a:pPr>
                      <a:r>
                        <a:rPr lang="en-US" sz="3200" b="1" u="none" strike="noStrike">
                          <a:solidFill>
                            <a:srgbClr val="FFFFFF"/>
                          </a:solidFill>
                          <a:effectLst/>
                          <a:latin typeface="Inter" panose="02000503000000020004" pitchFamily="2" charset="0"/>
                          <a:ea typeface="Inter" panose="02000503000000020004" pitchFamily="2" charset="0"/>
                        </a:rPr>
                        <a:t>U Rate   (t-1)</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solidFill>
                      <a:srgbClr val="026A94"/>
                    </a:solidFill>
                  </a:tcPr>
                </a:tc>
                <a:tc>
                  <a:txBody>
                    <a:bodyPr/>
                    <a:lstStyle/>
                    <a:p>
                      <a:pPr algn="ctr" fontAlgn="b">
                        <a:buNone/>
                      </a:pPr>
                      <a:r>
                        <a:rPr lang="en-US" sz="3200" b="1" u="none" strike="noStrike">
                          <a:solidFill>
                            <a:srgbClr val="FFFFFF"/>
                          </a:solidFill>
                          <a:effectLst/>
                          <a:latin typeface="Inter" panose="02000503000000020004" pitchFamily="2" charset="0"/>
                          <a:ea typeface="Inter" panose="02000503000000020004" pitchFamily="2" charset="0"/>
                        </a:rPr>
                        <a:t>U Rate   (t-3)</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solidFill>
                      <a:srgbClr val="026A94"/>
                    </a:solidFill>
                  </a:tcPr>
                </a:tc>
                <a:tc>
                  <a:txBody>
                    <a:bodyPr/>
                    <a:lstStyle/>
                    <a:p>
                      <a:pPr algn="ctr" fontAlgn="b">
                        <a:buNone/>
                      </a:pPr>
                      <a:r>
                        <a:rPr lang="en-US" sz="3200" b="1" u="none" strike="noStrike">
                          <a:solidFill>
                            <a:srgbClr val="FFFFFF"/>
                          </a:solidFill>
                          <a:effectLst/>
                          <a:latin typeface="Inter" panose="02000503000000020004" pitchFamily="2" charset="0"/>
                          <a:ea typeface="Inter" panose="02000503000000020004" pitchFamily="2" charset="0"/>
                        </a:rPr>
                        <a:t>10Y-2Y Spread      (t-1)</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solidFill>
                      <a:srgbClr val="026A94"/>
                    </a:solidFill>
                  </a:tcPr>
                </a:tc>
                <a:tc>
                  <a:txBody>
                    <a:bodyPr/>
                    <a:lstStyle/>
                    <a:p>
                      <a:pPr algn="ctr" fontAlgn="b">
                        <a:buNone/>
                      </a:pPr>
                      <a:r>
                        <a:rPr lang="en-US" sz="3200" b="1" u="none" strike="noStrike">
                          <a:solidFill>
                            <a:srgbClr val="FFFFFF"/>
                          </a:solidFill>
                          <a:effectLst/>
                          <a:latin typeface="Inter" panose="02000503000000020004" pitchFamily="2" charset="0"/>
                          <a:ea typeface="Inter" panose="02000503000000020004" pitchFamily="2" charset="0"/>
                        </a:rPr>
                        <a:t>10Y-2Y Spread     (t-3)</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solidFill>
                      <a:srgbClr val="026A94"/>
                    </a:solidFill>
                  </a:tcPr>
                </a:tc>
                <a:extLst>
                  <a:ext uri="{0D108BD9-81ED-4DB2-BD59-A6C34878D82A}">
                    <a16:rowId xmlns:a16="http://schemas.microsoft.com/office/drawing/2014/main" val="210269257"/>
                  </a:ext>
                </a:extLst>
              </a:tr>
              <a:tr h="719826">
                <a:tc>
                  <a:txBody>
                    <a:bodyPr/>
                    <a:lstStyle/>
                    <a:p>
                      <a:pPr algn="ctr" fontAlgn="b">
                        <a:buNone/>
                      </a:pPr>
                      <a:r>
                        <a:rPr lang="en-US" sz="3200" b="1" u="none" strike="noStrike">
                          <a:solidFill>
                            <a:srgbClr val="000000"/>
                          </a:solidFill>
                          <a:effectLst/>
                          <a:latin typeface="Inter" panose="02000503000000020004" pitchFamily="2" charset="0"/>
                          <a:ea typeface="Inter" panose="02000503000000020004" pitchFamily="2" charset="0"/>
                        </a:rPr>
                        <a:t>5/31/2000</a:t>
                      </a:r>
                      <a:endParaRPr lang="en-US" sz="3200" b="1"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3.8</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4.1</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-0.45</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-0.11</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extLst>
                  <a:ext uri="{0D108BD9-81ED-4DB2-BD59-A6C34878D82A}">
                    <a16:rowId xmlns:a16="http://schemas.microsoft.com/office/drawing/2014/main" val="793369326"/>
                  </a:ext>
                </a:extLst>
              </a:tr>
              <a:tr h="719826">
                <a:tc>
                  <a:txBody>
                    <a:bodyPr/>
                    <a:lstStyle/>
                    <a:p>
                      <a:pPr algn="ctr" fontAlgn="b">
                        <a:buNone/>
                      </a:pPr>
                      <a:r>
                        <a:rPr lang="en-US" sz="3200" b="1" u="none" strike="noStrike">
                          <a:solidFill>
                            <a:srgbClr val="000000"/>
                          </a:solidFill>
                          <a:effectLst/>
                          <a:latin typeface="Inter" panose="02000503000000020004" pitchFamily="2" charset="0"/>
                          <a:ea typeface="Inter" panose="02000503000000020004" pitchFamily="2" charset="0"/>
                        </a:rPr>
                        <a:t>6/30/2000</a:t>
                      </a:r>
                      <a:endParaRPr lang="en-US" sz="3200" b="1"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-0.47</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extLst>
                  <a:ext uri="{0D108BD9-81ED-4DB2-BD59-A6C34878D82A}">
                    <a16:rowId xmlns:a16="http://schemas.microsoft.com/office/drawing/2014/main" val="3913544011"/>
                  </a:ext>
                </a:extLst>
              </a:tr>
              <a:tr h="719826">
                <a:tc>
                  <a:txBody>
                    <a:bodyPr/>
                    <a:lstStyle/>
                    <a:p>
                      <a:pPr algn="ctr" fontAlgn="b">
                        <a:buNone/>
                      </a:pPr>
                      <a:r>
                        <a:rPr lang="en-US" sz="3200" b="1" u="none" strike="noStrike">
                          <a:solidFill>
                            <a:srgbClr val="000000"/>
                          </a:solidFill>
                          <a:effectLst/>
                          <a:latin typeface="Inter" panose="02000503000000020004" pitchFamily="2" charset="0"/>
                          <a:ea typeface="Inter" panose="02000503000000020004" pitchFamily="2" charset="0"/>
                        </a:rPr>
                        <a:t>7/31/2000</a:t>
                      </a:r>
                      <a:endParaRPr lang="en-US" sz="3200" b="1"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3.8</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-0.35</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-0.45</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extLst>
                  <a:ext uri="{0D108BD9-81ED-4DB2-BD59-A6C34878D82A}">
                    <a16:rowId xmlns:a16="http://schemas.microsoft.com/office/drawing/2014/main" val="4239281149"/>
                  </a:ext>
                </a:extLst>
              </a:tr>
              <a:tr h="719826">
                <a:tc>
                  <a:txBody>
                    <a:bodyPr/>
                    <a:lstStyle/>
                    <a:p>
                      <a:pPr algn="ctr" fontAlgn="b">
                        <a:buNone/>
                      </a:pPr>
                      <a:r>
                        <a:rPr lang="en-US" sz="3200" b="1" u="none" strike="noStrike">
                          <a:solidFill>
                            <a:srgbClr val="000000"/>
                          </a:solidFill>
                          <a:effectLst/>
                          <a:latin typeface="Inter" panose="02000503000000020004" pitchFamily="2" charset="0"/>
                          <a:ea typeface="Inter" panose="02000503000000020004" pitchFamily="2" charset="0"/>
                        </a:rPr>
                        <a:t>8/31/2000</a:t>
                      </a:r>
                      <a:endParaRPr lang="en-US" sz="3200" b="1"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-0.26</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extLst>
                  <a:ext uri="{0D108BD9-81ED-4DB2-BD59-A6C34878D82A}">
                    <a16:rowId xmlns:a16="http://schemas.microsoft.com/office/drawing/2014/main" val="3388501548"/>
                  </a:ext>
                </a:extLst>
              </a:tr>
              <a:tr h="719826">
                <a:tc>
                  <a:txBody>
                    <a:bodyPr/>
                    <a:lstStyle/>
                    <a:p>
                      <a:pPr algn="ctr" fontAlgn="b">
                        <a:buNone/>
                      </a:pPr>
                      <a:r>
                        <a:rPr lang="en-US" sz="3200" b="1" u="none" strike="noStrike">
                          <a:solidFill>
                            <a:srgbClr val="000000"/>
                          </a:solidFill>
                          <a:effectLst/>
                          <a:latin typeface="Inter" panose="02000503000000020004" pitchFamily="2" charset="0"/>
                          <a:ea typeface="Inter" panose="02000503000000020004" pitchFamily="2" charset="0"/>
                        </a:rPr>
                        <a:t>9/30/2000</a:t>
                      </a:r>
                      <a:endParaRPr lang="en-US" sz="3200" b="1"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4.1</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4</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-0.45</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tc>
                  <a:txBody>
                    <a:bodyPr/>
                    <a:lstStyle/>
                    <a:p>
                      <a:pPr algn="ctr" fontAlgn="b">
                        <a:buNone/>
                      </a:pPr>
                      <a:r>
                        <a:rPr lang="en-US" sz="3200" b="0" u="none" strike="noStrike">
                          <a:solidFill>
                            <a:srgbClr val="000000"/>
                          </a:solidFill>
                          <a:effectLst/>
                          <a:latin typeface="Inter" panose="02000503000000020004" pitchFamily="2" charset="0"/>
                          <a:ea typeface="Inter" panose="02000503000000020004" pitchFamily="2" charset="0"/>
                        </a:rPr>
                        <a:t>-0.35</a:t>
                      </a:r>
                      <a:endParaRPr lang="en-US" sz="3200" b="0" i="0" u="none" strike="noStrike">
                        <a:effectLst/>
                        <a:latin typeface="Inter" panose="02000503000000020004" pitchFamily="2" charset="0"/>
                        <a:ea typeface="Inter" panose="02000503000000020004" pitchFamily="2" charset="0"/>
                      </a:endParaRPr>
                    </a:p>
                  </a:txBody>
                  <a:tcPr marL="16030" marR="16030" marT="16030" marB="0" anchor="b">
                    <a:lnL w="12700" cap="flat">
                      <a:noFill/>
                      <a:prstDash val="solid"/>
                      <a:miter lim="400000"/>
                    </a:lnL>
                    <a:lnR w="12700" cap="flat">
                      <a:noFill/>
                      <a:prstDash val="solid"/>
                      <a:miter lim="400000"/>
                    </a:lnR>
                    <a:lnT w="12700" cap="flat">
                      <a:noFill/>
                      <a:prstDash val="solid"/>
                      <a:miter lim="400000"/>
                    </a:lnT>
                    <a:lnB w="12700" cap="flat">
                      <a:noFill/>
                      <a:prstDash val="solid"/>
                      <a:miter lim="400000"/>
                    </a:lnB>
                    <a:lnTlToBr w="12700" cmpd="sng">
                      <a:noFill/>
                      <a:prstDash val="solid"/>
                    </a:lnTlToBr>
                    <a:lnBlToTr w="12700" cmpd="sng">
                      <a:noFill/>
                      <a:prstDash val="solid"/>
                    </a:lnBlToTr>
                  </a:tcPr>
                </a:tc>
                <a:extLst>
                  <a:ext uri="{0D108BD9-81ED-4DB2-BD59-A6C34878D82A}">
                    <a16:rowId xmlns:a16="http://schemas.microsoft.com/office/drawing/2014/main" val="546922908"/>
                  </a:ext>
                </a:extLst>
              </a:tr>
            </a:tbl>
          </a:graphicData>
        </a:graphic>
      </p:graphicFrame>
      <p:pic>
        <p:nvPicPr>
          <p:cNvPr id="19" name="Picture 18" descr="A computer screen shot of a computer code&#10;&#10;AI-generated content may be incorrect.">
            <a:extLst>
              <a:ext uri="{FF2B5EF4-FFF2-40B4-BE49-F238E27FC236}">
                <a16:creationId xmlns:a16="http://schemas.microsoft.com/office/drawing/2014/main" id="{5611F13D-354A-0A72-7746-6F3CA30EF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01480" y="8652961"/>
            <a:ext cx="10960778" cy="2776042"/>
          </a:xfrm>
          <a:prstGeom prst="rect">
            <a:avLst/>
          </a:prstGeom>
        </p:spPr>
      </p:pic>
    </p:spTree>
    <p:extLst>
      <p:ext uri="{BB962C8B-B14F-4D97-AF65-F5344CB8AC3E}">
        <p14:creationId xmlns:p14="http://schemas.microsoft.com/office/powerpoint/2010/main" val="1159306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7268BF-3D67-84CB-F964-4C95EC7AB8FD}"/>
              </a:ext>
            </a:extLst>
          </p:cNvPr>
          <p:cNvSpPr>
            <a:spLocks noGrp="1"/>
          </p:cNvSpPr>
          <p:nvPr>
            <p:ph sz="half" idx="1"/>
          </p:nvPr>
        </p:nvSpPr>
        <p:spPr>
          <a:xfrm>
            <a:off x="1150170" y="3318336"/>
            <a:ext cx="10327342" cy="7828767"/>
          </a:xfrm>
        </p:spPr>
        <p:txBody>
          <a:bodyPr vert="horz" lIns="91440" tIns="45720" rIns="91440" bIns="45720" rtlCol="0">
            <a:normAutofit lnSpcReduction="10000"/>
          </a:bodyPr>
          <a:lstStyle/>
          <a:p>
            <a:r>
              <a:rPr lang="en-US" sz="4300" dirty="0"/>
              <a:t>Measured the significance of each variable on monthly SPY returns through </a:t>
            </a:r>
          </a:p>
          <a:p>
            <a:pPr lvl="1">
              <a:buFont typeface="Courier New,monospace" panose="020B0604020202020204" pitchFamily="34" charset="0"/>
              <a:buChar char="o"/>
            </a:pPr>
            <a:r>
              <a:rPr lang="en-US" sz="4300" dirty="0"/>
              <a:t>P-Values (relationship significance)</a:t>
            </a:r>
          </a:p>
          <a:p>
            <a:pPr lvl="1">
              <a:buFont typeface="Courier New,monospace" panose="020B0604020202020204" pitchFamily="34" charset="0"/>
              <a:buChar char="o"/>
            </a:pPr>
            <a:r>
              <a:rPr lang="en-US" sz="4300" dirty="0"/>
              <a:t>Beta (size &amp; direction sensitivity to indicator)</a:t>
            </a:r>
          </a:p>
          <a:p>
            <a:pPr lvl="1">
              <a:buFont typeface="Courier New,monospace" panose="020B0604020202020204" pitchFamily="34" charset="0"/>
              <a:buChar char="o"/>
            </a:pPr>
            <a:r>
              <a:rPr lang="en-US" sz="4300" dirty="0"/>
              <a:t>R-Squared (explanatory power)</a:t>
            </a:r>
          </a:p>
          <a:p>
            <a:r>
              <a:rPr lang="en-US" sz="4300" dirty="0"/>
              <a:t>What does this all tell us? </a:t>
            </a:r>
          </a:p>
          <a:p>
            <a:r>
              <a:rPr lang="en-US" sz="4300" dirty="0"/>
              <a:t>Is this normal?</a:t>
            </a:r>
          </a:p>
        </p:txBody>
      </p:sp>
      <p:sp>
        <p:nvSpPr>
          <p:cNvPr id="5" name="Slide Number Placeholder 4">
            <a:extLst>
              <a:ext uri="{FF2B5EF4-FFF2-40B4-BE49-F238E27FC236}">
                <a16:creationId xmlns:a16="http://schemas.microsoft.com/office/drawing/2014/main" id="{49AE60EA-DD89-4EAD-F4B7-795548D58364}"/>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7</a:t>
            </a:fld>
            <a:endParaRPr lang="en-US"/>
          </a:p>
        </p:txBody>
      </p:sp>
      <p:sp>
        <p:nvSpPr>
          <p:cNvPr id="6" name="Title 5">
            <a:extLst>
              <a:ext uri="{FF2B5EF4-FFF2-40B4-BE49-F238E27FC236}">
                <a16:creationId xmlns:a16="http://schemas.microsoft.com/office/drawing/2014/main" id="{03EB31DF-D286-E149-7303-B819FE30E442}"/>
              </a:ext>
            </a:extLst>
          </p:cNvPr>
          <p:cNvSpPr>
            <a:spLocks noGrp="1"/>
          </p:cNvSpPr>
          <p:nvPr>
            <p:ph type="title"/>
          </p:nvPr>
        </p:nvSpPr>
        <p:spPr>
          <a:xfrm>
            <a:off x="731521" y="1143000"/>
            <a:ext cx="21214080" cy="1371600"/>
          </a:xfrm>
        </p:spPr>
        <p:txBody>
          <a:bodyPr anchor="ctr">
            <a:normAutofit/>
          </a:bodyPr>
          <a:lstStyle/>
          <a:p>
            <a:r>
              <a:rPr lang="en-US" dirty="0"/>
              <a:t>Single Variable Regression Model</a:t>
            </a:r>
          </a:p>
        </p:txBody>
      </p:sp>
      <p:graphicFrame>
        <p:nvGraphicFramePr>
          <p:cNvPr id="23" name="Content Placeholder 22">
            <a:extLst>
              <a:ext uri="{FF2B5EF4-FFF2-40B4-BE49-F238E27FC236}">
                <a16:creationId xmlns:a16="http://schemas.microsoft.com/office/drawing/2014/main" id="{C75923E6-A544-5E94-A954-9011E11FA512}"/>
              </a:ext>
            </a:extLst>
          </p:cNvPr>
          <p:cNvGraphicFramePr>
            <a:graphicFrameLocks noGrp="1"/>
          </p:cNvGraphicFramePr>
          <p:nvPr>
            <p:ph sz="half" idx="2"/>
            <p:extLst>
              <p:ext uri="{D42A27DB-BD31-4B8C-83A1-F6EECF244321}">
                <p14:modId xmlns:p14="http://schemas.microsoft.com/office/powerpoint/2010/main" val="3101224491"/>
              </p:ext>
            </p:extLst>
          </p:nvPr>
        </p:nvGraphicFramePr>
        <p:xfrm>
          <a:off x="12501480" y="2815416"/>
          <a:ext cx="10732350" cy="5315022"/>
        </p:xfrm>
        <a:graphic>
          <a:graphicData uri="http://schemas.openxmlformats.org/drawingml/2006/table">
            <a:tbl>
              <a:tblPr>
                <a:tableStyleId>{2D5ABB26-0587-4C30-8999-92F81FD0307C}</a:tableStyleId>
              </a:tblPr>
              <a:tblGrid>
                <a:gridCol w="1836753">
                  <a:extLst>
                    <a:ext uri="{9D8B030D-6E8A-4147-A177-3AD203B41FA5}">
                      <a16:colId xmlns:a16="http://schemas.microsoft.com/office/drawing/2014/main" val="2155876197"/>
                    </a:ext>
                  </a:extLst>
                </a:gridCol>
                <a:gridCol w="4314485">
                  <a:extLst>
                    <a:ext uri="{9D8B030D-6E8A-4147-A177-3AD203B41FA5}">
                      <a16:colId xmlns:a16="http://schemas.microsoft.com/office/drawing/2014/main" val="981565719"/>
                    </a:ext>
                  </a:extLst>
                </a:gridCol>
                <a:gridCol w="1571923">
                  <a:extLst>
                    <a:ext uri="{9D8B030D-6E8A-4147-A177-3AD203B41FA5}">
                      <a16:colId xmlns:a16="http://schemas.microsoft.com/office/drawing/2014/main" val="2236631669"/>
                    </a:ext>
                  </a:extLst>
                </a:gridCol>
                <a:gridCol w="1450730">
                  <a:extLst>
                    <a:ext uri="{9D8B030D-6E8A-4147-A177-3AD203B41FA5}">
                      <a16:colId xmlns:a16="http://schemas.microsoft.com/office/drawing/2014/main" val="1308567496"/>
                    </a:ext>
                  </a:extLst>
                </a:gridCol>
                <a:gridCol w="1558459">
                  <a:extLst>
                    <a:ext uri="{9D8B030D-6E8A-4147-A177-3AD203B41FA5}">
                      <a16:colId xmlns:a16="http://schemas.microsoft.com/office/drawing/2014/main" val="4253594393"/>
                    </a:ext>
                  </a:extLst>
                </a:gridCol>
              </a:tblGrid>
              <a:tr h="590558">
                <a:tc>
                  <a:txBody>
                    <a:bodyPr/>
                    <a:lstStyle/>
                    <a:p>
                      <a:pPr algn="ctr" fontAlgn="b">
                        <a:buNone/>
                      </a:pPr>
                      <a:endParaRPr lang="en-US" sz="2800" b="0" i="0" u="none" strike="noStrike">
                        <a:effectLst/>
                        <a:latin typeface="Inter" panose="02000503000000020004" pitchFamily="2" charset="0"/>
                        <a:ea typeface="Inter" panose="02000503000000020004" pitchFamily="2" charset="0"/>
                      </a:endParaRPr>
                    </a:p>
                  </a:txBody>
                  <a:tcPr marL="17277" marR="17277" marT="17277" marB="0" anchor="b">
                    <a:solidFill>
                      <a:srgbClr val="026A94"/>
                    </a:solidFill>
                  </a:tcPr>
                </a:tc>
                <a:tc>
                  <a:txBody>
                    <a:bodyPr/>
                    <a:lstStyle/>
                    <a:p>
                      <a:pPr algn="ctr" fontAlgn="b">
                        <a:buNone/>
                      </a:pPr>
                      <a:r>
                        <a:rPr lang="en-US" sz="2800" b="1" u="none" strike="noStrike">
                          <a:solidFill>
                            <a:srgbClr val="FFFFFF"/>
                          </a:solidFill>
                          <a:effectLst/>
                          <a:latin typeface="Inter" panose="02000503000000020004" pitchFamily="2" charset="0"/>
                          <a:ea typeface="Inter" panose="02000503000000020004" pitchFamily="2" charset="0"/>
                        </a:rPr>
                        <a:t>Variable</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solidFill>
                      <a:srgbClr val="026A94"/>
                    </a:solidFill>
                  </a:tcPr>
                </a:tc>
                <a:tc>
                  <a:txBody>
                    <a:bodyPr/>
                    <a:lstStyle/>
                    <a:p>
                      <a:pPr algn="ctr" fontAlgn="b">
                        <a:buNone/>
                      </a:pPr>
                      <a:r>
                        <a:rPr lang="en-US" sz="2800" b="1" u="none" strike="noStrike">
                          <a:solidFill>
                            <a:srgbClr val="FFFFFF"/>
                          </a:solidFill>
                          <a:effectLst/>
                          <a:latin typeface="Inter" panose="02000503000000020004" pitchFamily="2" charset="0"/>
                          <a:ea typeface="Inter" panose="02000503000000020004" pitchFamily="2" charset="0"/>
                        </a:rPr>
                        <a:t>Beta</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solidFill>
                      <a:srgbClr val="026A94"/>
                    </a:solidFill>
                  </a:tcPr>
                </a:tc>
                <a:tc>
                  <a:txBody>
                    <a:bodyPr/>
                    <a:lstStyle/>
                    <a:p>
                      <a:pPr algn="ctr" fontAlgn="b">
                        <a:buNone/>
                      </a:pPr>
                      <a:r>
                        <a:rPr lang="en-US" sz="2800" b="1" u="none" strike="noStrike">
                          <a:solidFill>
                            <a:srgbClr val="FFFFFF"/>
                          </a:solidFill>
                          <a:effectLst/>
                          <a:latin typeface="Inter" panose="02000503000000020004" pitchFamily="2" charset="0"/>
                          <a:ea typeface="Inter" panose="02000503000000020004" pitchFamily="2" charset="0"/>
                        </a:rPr>
                        <a:t>R²</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solidFill>
                      <a:srgbClr val="026A94"/>
                    </a:solidFill>
                  </a:tcPr>
                </a:tc>
                <a:tc>
                  <a:txBody>
                    <a:bodyPr/>
                    <a:lstStyle/>
                    <a:p>
                      <a:pPr algn="ctr" fontAlgn="b">
                        <a:buNone/>
                      </a:pPr>
                      <a:r>
                        <a:rPr lang="en-US" sz="2800" b="1" u="none" strike="noStrike">
                          <a:solidFill>
                            <a:srgbClr val="FFFFFF"/>
                          </a:solidFill>
                          <a:effectLst/>
                          <a:latin typeface="Inter" panose="02000503000000020004" pitchFamily="2" charset="0"/>
                          <a:ea typeface="Inter" panose="02000503000000020004" pitchFamily="2" charset="0"/>
                        </a:rPr>
                        <a:t>p-value</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solidFill>
                      <a:srgbClr val="026A94"/>
                    </a:solidFill>
                  </a:tcPr>
                </a:tc>
                <a:extLst>
                  <a:ext uri="{0D108BD9-81ED-4DB2-BD59-A6C34878D82A}">
                    <a16:rowId xmlns:a16="http://schemas.microsoft.com/office/drawing/2014/main" val="703443125"/>
                  </a:ext>
                </a:extLst>
              </a:tr>
              <a:tr h="590558">
                <a:tc>
                  <a:txBody>
                    <a:bodyPr/>
                    <a:lstStyle/>
                    <a:p>
                      <a:pPr algn="ctr" fontAlgn="b">
                        <a:buNone/>
                      </a:pPr>
                      <a:r>
                        <a:rPr lang="en-US" sz="2800" b="1" u="none" strike="noStrike">
                          <a:effectLst/>
                          <a:latin typeface="Inter" panose="02000503000000020004" pitchFamily="2" charset="0"/>
                          <a:ea typeface="Inter" panose="02000503000000020004" pitchFamily="2" charset="0"/>
                        </a:rPr>
                        <a:t>1</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Unemployment Rate (t-1)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0.0026</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0.0133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0.0458</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168221565"/>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2</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Unemployment Rate (t-3)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0.0027</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0.014</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0.0409</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985977067"/>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3</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10Y-2Y Yield Spread (t-1)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0.0003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0.915</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3380365689"/>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4</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10Y-2Y Yield Spread (t-3)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0.0004</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0.0001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0.8864</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1494639733"/>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5</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Fed Funds Rate (t-1)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-0.0017</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0.006</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0.1821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3772306556"/>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6</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Fed Funds Rate (t-3)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-0.0019</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0.007</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0.1473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3784365161"/>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7</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CPI Inflation (t-1)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0.0001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0.0062</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0.1741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2286687685"/>
                  </a:ext>
                </a:extLst>
              </a:tr>
              <a:tr h="590558">
                <a:tc>
                  <a:txBody>
                    <a:bodyPr/>
                    <a:lstStyle/>
                    <a:p>
                      <a:pPr algn="ctr" fontAlgn="b">
                        <a:buNone/>
                      </a:pPr>
                      <a:r>
                        <a:rPr lang="en-US" sz="2800" b="1" u="none" strike="noStrike">
                          <a:solidFill>
                            <a:srgbClr val="000000"/>
                          </a:solidFill>
                          <a:effectLst/>
                          <a:latin typeface="Inter" panose="02000503000000020004" pitchFamily="2" charset="0"/>
                          <a:ea typeface="Inter" panose="02000503000000020004" pitchFamily="2" charset="0"/>
                        </a:rPr>
                        <a:t>8</a:t>
                      </a:r>
                      <a:endParaRPr lang="en-US" sz="2800" b="1"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CPI Inflation (t-3)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0.0001</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0.0063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tc>
                  <a:txBody>
                    <a:bodyPr/>
                    <a:lstStyle/>
                    <a:p>
                      <a:pPr algn="ctr" fontAlgn="b">
                        <a:buNone/>
                      </a:pPr>
                      <a:r>
                        <a:rPr lang="en-US" sz="2800" b="0" u="none" strike="noStrike">
                          <a:solidFill>
                            <a:srgbClr val="000000"/>
                          </a:solidFill>
                          <a:effectLst/>
                          <a:latin typeface="Inter" panose="02000503000000020004" pitchFamily="2" charset="0"/>
                          <a:ea typeface="Inter" panose="02000503000000020004" pitchFamily="2" charset="0"/>
                        </a:rPr>
                        <a:t>0.1703</a:t>
                      </a:r>
                      <a:endParaRPr lang="en-US" sz="2800" b="0" i="0" u="none" strike="noStrike">
                        <a:effectLst/>
                        <a:latin typeface="Inter" panose="02000503000000020004" pitchFamily="2" charset="0"/>
                        <a:ea typeface="Inter" panose="02000503000000020004" pitchFamily="2" charset="0"/>
                      </a:endParaRPr>
                    </a:p>
                  </a:txBody>
                  <a:tcPr marL="17277" marR="17277" marT="17277" marB="0" anchor="b"/>
                </a:tc>
                <a:extLst>
                  <a:ext uri="{0D108BD9-81ED-4DB2-BD59-A6C34878D82A}">
                    <a16:rowId xmlns:a16="http://schemas.microsoft.com/office/drawing/2014/main" val="4244305323"/>
                  </a:ext>
                </a:extLst>
              </a:tr>
            </a:tbl>
          </a:graphicData>
        </a:graphic>
      </p:graphicFrame>
      <p:pic>
        <p:nvPicPr>
          <p:cNvPr id="27" name="Picture 26" descr="A screen shot of a computer program&#10;&#10;AI-generated content may be incorrect.">
            <a:extLst>
              <a:ext uri="{FF2B5EF4-FFF2-40B4-BE49-F238E27FC236}">
                <a16:creationId xmlns:a16="http://schemas.microsoft.com/office/drawing/2014/main" id="{23075B76-114A-CBE5-E926-51DC561AC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01480" y="8593562"/>
            <a:ext cx="10732350" cy="3552408"/>
          </a:xfrm>
          <a:prstGeom prst="rect">
            <a:avLst/>
          </a:prstGeom>
        </p:spPr>
      </p:pic>
    </p:spTree>
    <p:extLst>
      <p:ext uri="{BB962C8B-B14F-4D97-AF65-F5344CB8AC3E}">
        <p14:creationId xmlns:p14="http://schemas.microsoft.com/office/powerpoint/2010/main" val="1063532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9AE60EA-DD89-4EAD-F4B7-795548D58364}"/>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8</a:t>
            </a:fld>
            <a:endParaRPr lang="en-US"/>
          </a:p>
        </p:txBody>
      </p:sp>
      <p:sp>
        <p:nvSpPr>
          <p:cNvPr id="6" name="Title 5">
            <a:extLst>
              <a:ext uri="{FF2B5EF4-FFF2-40B4-BE49-F238E27FC236}">
                <a16:creationId xmlns:a16="http://schemas.microsoft.com/office/drawing/2014/main" id="{03EB31DF-D286-E149-7303-B819FE30E442}"/>
              </a:ext>
            </a:extLst>
          </p:cNvPr>
          <p:cNvSpPr>
            <a:spLocks noGrp="1"/>
          </p:cNvSpPr>
          <p:nvPr>
            <p:ph type="title"/>
          </p:nvPr>
        </p:nvSpPr>
        <p:spPr>
          <a:xfrm>
            <a:off x="914399" y="1143000"/>
            <a:ext cx="21031201" cy="1371600"/>
          </a:xfrm>
        </p:spPr>
        <p:txBody>
          <a:bodyPr anchor="ctr">
            <a:normAutofit/>
          </a:bodyPr>
          <a:lstStyle/>
          <a:p>
            <a:r>
              <a:rPr lang="en-US"/>
              <a:t>Multivariable Regression Model</a:t>
            </a:r>
          </a:p>
        </p:txBody>
      </p:sp>
      <p:sp>
        <p:nvSpPr>
          <p:cNvPr id="8" name="TextBox 7">
            <a:extLst>
              <a:ext uri="{FF2B5EF4-FFF2-40B4-BE49-F238E27FC236}">
                <a16:creationId xmlns:a16="http://schemas.microsoft.com/office/drawing/2014/main" id="{93A61EDE-CC41-B726-BAB2-6A80DFD842D1}"/>
              </a:ext>
            </a:extLst>
          </p:cNvPr>
          <p:cNvSpPr txBox="1"/>
          <p:nvPr/>
        </p:nvSpPr>
        <p:spPr>
          <a:xfrm>
            <a:off x="914398" y="2934528"/>
            <a:ext cx="14492615" cy="61418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3" indent="0" algn="l">
              <a:lnSpc>
                <a:spcPct val="150000"/>
              </a:lnSpc>
            </a:pPr>
            <a:r>
              <a:rPr lang="en-US" sz="3800" b="1">
                <a:solidFill>
                  <a:srgbClr val="667085"/>
                </a:solidFill>
                <a:latin typeface="Inter" panose="02000503000000020004" pitchFamily="2" charset="0"/>
                <a:ea typeface="Inter" panose="02000503000000020004" pitchFamily="2" charset="0"/>
              </a:rPr>
              <a:t>Statistics</a:t>
            </a:r>
          </a:p>
          <a:p>
            <a:pPr marL="571500" lvl="3" indent="-571500" algn="l">
              <a:lnSpc>
                <a:spcPct val="150000"/>
              </a:lnSpc>
              <a:buFont typeface="Arial" panose="020B0604020202020204" pitchFamily="34" charset="0"/>
              <a:buChar char="•"/>
            </a:pPr>
            <a:r>
              <a:rPr lang="en-US" sz="3800">
                <a:solidFill>
                  <a:srgbClr val="667085"/>
                </a:solidFill>
                <a:latin typeface="Inter" panose="02000503000000020004" pitchFamily="2" charset="0"/>
                <a:ea typeface="Inter" panose="02000503000000020004" pitchFamily="2" charset="0"/>
              </a:rPr>
              <a:t>R^2 - SPY return variance explained by model</a:t>
            </a:r>
          </a:p>
          <a:p>
            <a:pPr marL="571500" lvl="3" indent="-571500" algn="l">
              <a:lnSpc>
                <a:spcPct val="150000"/>
              </a:lnSpc>
              <a:buFont typeface="Arial" panose="020B0604020202020204" pitchFamily="34" charset="0"/>
              <a:buChar char="•"/>
            </a:pPr>
            <a:r>
              <a:rPr lang="en-US" sz="3800">
                <a:solidFill>
                  <a:srgbClr val="667085"/>
                </a:solidFill>
                <a:latin typeface="Inter" panose="02000503000000020004" pitchFamily="2" charset="0"/>
                <a:ea typeface="Inter" panose="02000503000000020004" pitchFamily="2" charset="0"/>
              </a:rPr>
              <a:t>Adj. R^2- SPY return variance explained by the 8 predictors </a:t>
            </a:r>
          </a:p>
          <a:p>
            <a:pPr marL="571500" lvl="3" indent="-571500" algn="l">
              <a:lnSpc>
                <a:spcPct val="150000"/>
              </a:lnSpc>
              <a:buFont typeface="Arial" panose="020B0604020202020204" pitchFamily="34" charset="0"/>
              <a:buChar char="•"/>
            </a:pPr>
            <a:r>
              <a:rPr lang="en-US" sz="3800">
                <a:solidFill>
                  <a:srgbClr val="667085"/>
                </a:solidFill>
                <a:latin typeface="Inter" panose="02000503000000020004" pitchFamily="2" charset="0"/>
                <a:ea typeface="Inter" panose="02000503000000020004" pitchFamily="2" charset="0"/>
              </a:rPr>
              <a:t>F-stat p-Value &gt;0.05 - High: </a:t>
            </a:r>
            <a:r>
              <a:rPr lang="en-US" sz="3800" b="1">
                <a:solidFill>
                  <a:srgbClr val="667085"/>
                </a:solidFill>
                <a:latin typeface="Inter" panose="02000503000000020004" pitchFamily="2" charset="0"/>
                <a:ea typeface="Inter" panose="02000503000000020004" pitchFamily="2" charset="0"/>
              </a:rPr>
              <a:t>model is not statistically significant</a:t>
            </a:r>
          </a:p>
          <a:p>
            <a:pPr marL="571500" lvl="3" indent="-571500" algn="l">
              <a:lnSpc>
                <a:spcPct val="150000"/>
              </a:lnSpc>
              <a:buFont typeface="Arial" panose="020B0604020202020204" pitchFamily="34" charset="0"/>
              <a:buChar char="•"/>
            </a:pPr>
            <a:r>
              <a:rPr lang="en-US" sz="3800">
                <a:solidFill>
                  <a:srgbClr val="667085"/>
                </a:solidFill>
                <a:latin typeface="Inter" panose="02000503000000020004" pitchFamily="2" charset="0"/>
                <a:ea typeface="Inter" panose="02000503000000020004" pitchFamily="2" charset="0"/>
              </a:rPr>
              <a:t>Individual p-values &gt;0.4 – no single predictor is significant</a:t>
            </a:r>
          </a:p>
          <a:p>
            <a:pPr marL="571500" lvl="5" indent="-571500" algn="l">
              <a:lnSpc>
                <a:spcPct val="150000"/>
              </a:lnSpc>
              <a:buFont typeface="Arial" panose="020B0604020202020204" pitchFamily="34" charset="0"/>
              <a:buChar char="•"/>
            </a:pPr>
            <a:r>
              <a:rPr lang="en-US" sz="3800" b="1">
                <a:solidFill>
                  <a:srgbClr val="667085"/>
                </a:solidFill>
                <a:latin typeface="Inter" panose="02000503000000020004" pitchFamily="2" charset="0"/>
                <a:ea typeface="Inter" panose="02000503000000020004" pitchFamily="2" charset="0"/>
              </a:rPr>
              <a:t>Multicollinearity</a:t>
            </a:r>
          </a:p>
          <a:p>
            <a:pPr marL="571500" lvl="8" indent="-571500" algn="l">
              <a:lnSpc>
                <a:spcPct val="150000"/>
              </a:lnSpc>
              <a:buFont typeface="Arial" panose="020B0604020202020204" pitchFamily="34" charset="0"/>
              <a:buChar char="•"/>
            </a:pPr>
            <a:r>
              <a:rPr lang="en-US" sz="3800">
                <a:solidFill>
                  <a:srgbClr val="667085"/>
                </a:solidFill>
                <a:latin typeface="Inter" panose="02000503000000020004" pitchFamily="2" charset="0"/>
                <a:ea typeface="Inter" panose="02000503000000020004" pitchFamily="2" charset="0"/>
              </a:rPr>
              <a:t>Inter-Variable Codependence</a:t>
            </a:r>
            <a:endParaRPr lang="en-US" sz="4000">
              <a:solidFill>
                <a:srgbClr val="667085"/>
              </a:solidFill>
              <a:latin typeface="Inter" panose="02000503000000020004" pitchFamily="2" charset="0"/>
              <a:ea typeface="Inter" panose="02000503000000020004" pitchFamily="2" charset="0"/>
            </a:endParaRPr>
          </a:p>
        </p:txBody>
      </p:sp>
      <p:sp>
        <p:nvSpPr>
          <p:cNvPr id="16" name="TextBox 15">
            <a:extLst>
              <a:ext uri="{FF2B5EF4-FFF2-40B4-BE49-F238E27FC236}">
                <a16:creationId xmlns:a16="http://schemas.microsoft.com/office/drawing/2014/main" id="{166017DE-2AB6-73C8-16BE-C1DCC0E83C20}"/>
              </a:ext>
            </a:extLst>
          </p:cNvPr>
          <p:cNvSpPr txBox="1"/>
          <p:nvPr/>
        </p:nvSpPr>
        <p:spPr>
          <a:xfrm>
            <a:off x="1853764" y="11905848"/>
            <a:ext cx="21031200" cy="523220"/>
          </a:xfrm>
          <a:prstGeom prst="rect">
            <a:avLst/>
          </a:prstGeom>
          <a:noFill/>
        </p:spPr>
        <p:txBody>
          <a:bodyPr wrap="square" lIns="91440" tIns="45720" rIns="91440" bIns="45720" rtlCol="0" anchor="t">
            <a:spAutoFit/>
          </a:bodyPr>
          <a:lstStyle/>
          <a:p>
            <a:r>
              <a:rPr lang="en-US" sz="2800">
                <a:solidFill>
                  <a:schemeClr val="tx1"/>
                </a:solidFill>
                <a:latin typeface="Times New Roman"/>
                <a:cs typeface="Times New Roman"/>
              </a:rPr>
              <a:t>SPY </a:t>
            </a:r>
            <a:r>
              <a:rPr lang="en-US" sz="2800" err="1">
                <a:solidFill>
                  <a:schemeClr val="tx1"/>
                </a:solidFill>
                <a:latin typeface="Times New Roman"/>
                <a:cs typeface="Times New Roman"/>
              </a:rPr>
              <a:t>Returnst</a:t>
            </a:r>
            <a:r>
              <a:rPr lang="en-US" sz="2800">
                <a:solidFill>
                  <a:schemeClr val="tx1"/>
                </a:solidFill>
                <a:latin typeface="Times New Roman"/>
                <a:cs typeface="Times New Roman"/>
              </a:rPr>
              <a:t>​=</a:t>
            </a:r>
            <a:r>
              <a:rPr lang="el-GR" sz="2800">
                <a:solidFill>
                  <a:schemeClr val="tx1"/>
                </a:solidFill>
                <a:latin typeface="Times New Roman"/>
                <a:cs typeface="Times New Roman"/>
              </a:rPr>
              <a:t>α+β1​×</a:t>
            </a:r>
            <a:r>
              <a:rPr lang="en-US" sz="2800">
                <a:solidFill>
                  <a:schemeClr val="tx1"/>
                </a:solidFill>
                <a:latin typeface="Times New Roman"/>
                <a:cs typeface="Times New Roman"/>
              </a:rPr>
              <a:t>CPIt−1​+</a:t>
            </a:r>
            <a:r>
              <a:rPr lang="el-GR" sz="2800">
                <a:solidFill>
                  <a:schemeClr val="tx1"/>
                </a:solidFill>
                <a:latin typeface="Times New Roman"/>
                <a:cs typeface="Times New Roman"/>
              </a:rPr>
              <a:t>β2​×</a:t>
            </a:r>
            <a:r>
              <a:rPr lang="en-US" sz="2800">
                <a:solidFill>
                  <a:schemeClr val="tx1"/>
                </a:solidFill>
                <a:latin typeface="Times New Roman"/>
                <a:cs typeface="Times New Roman"/>
              </a:rPr>
              <a:t>Unemploymentt−1​+</a:t>
            </a:r>
            <a:r>
              <a:rPr lang="el-GR" sz="2800">
                <a:solidFill>
                  <a:schemeClr val="tx1"/>
                </a:solidFill>
                <a:latin typeface="Times New Roman"/>
                <a:cs typeface="Times New Roman"/>
              </a:rPr>
              <a:t>β3​×</a:t>
            </a:r>
            <a:r>
              <a:rPr lang="en-US" sz="2800">
                <a:solidFill>
                  <a:schemeClr val="tx1"/>
                </a:solidFill>
                <a:latin typeface="Times New Roman"/>
                <a:cs typeface="Times New Roman"/>
              </a:rPr>
              <a:t>FedFundst−1​+</a:t>
            </a:r>
            <a:r>
              <a:rPr lang="el-GR" sz="2800">
                <a:solidFill>
                  <a:schemeClr val="tx1"/>
                </a:solidFill>
                <a:latin typeface="Times New Roman"/>
                <a:cs typeface="Times New Roman"/>
              </a:rPr>
              <a:t>β4​×YieldCurve</a:t>
            </a:r>
            <a:r>
              <a:rPr lang="en-US" sz="2800">
                <a:solidFill>
                  <a:schemeClr val="tx1"/>
                </a:solidFill>
                <a:latin typeface="Times New Roman"/>
                <a:cs typeface="Times New Roman"/>
              </a:rPr>
              <a:t>t−1​-</a:t>
            </a:r>
            <a:r>
              <a:rPr lang="el-GR" sz="2800">
                <a:solidFill>
                  <a:schemeClr val="tx1"/>
                </a:solidFill>
                <a:latin typeface="Times New Roman"/>
                <a:cs typeface="Times New Roman"/>
              </a:rPr>
              <a:t>ϵ</a:t>
            </a:r>
            <a:r>
              <a:rPr lang="en-US" sz="2800">
                <a:solidFill>
                  <a:schemeClr val="tx1"/>
                </a:solidFill>
                <a:latin typeface="Times New Roman"/>
                <a:cs typeface="Times New Roman"/>
              </a:rPr>
              <a:t>t</a:t>
            </a:r>
          </a:p>
        </p:txBody>
      </p:sp>
      <p:graphicFrame>
        <p:nvGraphicFramePr>
          <p:cNvPr id="20" name="Content Placeholder 19">
            <a:extLst>
              <a:ext uri="{FF2B5EF4-FFF2-40B4-BE49-F238E27FC236}">
                <a16:creationId xmlns:a16="http://schemas.microsoft.com/office/drawing/2014/main" id="{C079A769-02F4-3D1A-1FDE-18172C929ADC}"/>
              </a:ext>
            </a:extLst>
          </p:cNvPr>
          <p:cNvGraphicFramePr>
            <a:graphicFrameLocks noGrp="1"/>
          </p:cNvGraphicFramePr>
          <p:nvPr>
            <p:ph sz="half" idx="2"/>
            <p:extLst>
              <p:ext uri="{D42A27DB-BD31-4B8C-83A1-F6EECF244321}">
                <p14:modId xmlns:p14="http://schemas.microsoft.com/office/powerpoint/2010/main" val="4012387451"/>
              </p:ext>
            </p:extLst>
          </p:nvPr>
        </p:nvGraphicFramePr>
        <p:xfrm>
          <a:off x="16024860" y="1303020"/>
          <a:ext cx="7209342" cy="5923190"/>
        </p:xfrm>
        <a:graphic>
          <a:graphicData uri="http://schemas.openxmlformats.org/drawingml/2006/table">
            <a:tbl>
              <a:tblPr>
                <a:tableStyleId>{2D5ABB26-0587-4C30-8999-92F81FD0307C}</a:tableStyleId>
              </a:tblPr>
              <a:tblGrid>
                <a:gridCol w="3827181">
                  <a:extLst>
                    <a:ext uri="{9D8B030D-6E8A-4147-A177-3AD203B41FA5}">
                      <a16:colId xmlns:a16="http://schemas.microsoft.com/office/drawing/2014/main" val="2344485466"/>
                    </a:ext>
                  </a:extLst>
                </a:gridCol>
                <a:gridCol w="3382161">
                  <a:extLst>
                    <a:ext uri="{9D8B030D-6E8A-4147-A177-3AD203B41FA5}">
                      <a16:colId xmlns:a16="http://schemas.microsoft.com/office/drawing/2014/main" val="1254461689"/>
                    </a:ext>
                  </a:extLst>
                </a:gridCol>
              </a:tblGrid>
              <a:tr h="901693">
                <a:tc>
                  <a:txBody>
                    <a:bodyPr/>
                    <a:lstStyle/>
                    <a:p>
                      <a:pPr algn="ctr" rtl="0" fontAlgn="ctr">
                        <a:buNone/>
                      </a:pPr>
                      <a:r>
                        <a:rPr lang="en-US" sz="3200" b="1" u="none" strike="noStrike">
                          <a:solidFill>
                            <a:srgbClr val="FFFFFF"/>
                          </a:solidFill>
                          <a:effectLst/>
                        </a:rPr>
                        <a:t>Metric</a:t>
                      </a:r>
                      <a:endParaRPr lang="en-US" sz="3200" b="1" i="0" u="none" strike="noStrike">
                        <a:solidFill>
                          <a:srgbClr val="FFFFFF"/>
                        </a:solidFill>
                        <a:effectLst/>
                        <a:latin typeface="Inter" panose="02000503000000020004" pitchFamily="2" charset="0"/>
                        <a:ea typeface="Inter" panose="02000503000000020004" pitchFamily="2" charset="0"/>
                      </a:endParaRPr>
                    </a:p>
                  </a:txBody>
                  <a:tcPr marL="6350" marR="6350" marT="6350" marB="0" anchor="ctr">
                    <a:solidFill>
                      <a:srgbClr val="026A94"/>
                    </a:solidFill>
                  </a:tcPr>
                </a:tc>
                <a:tc>
                  <a:txBody>
                    <a:bodyPr/>
                    <a:lstStyle/>
                    <a:p>
                      <a:pPr algn="ctr" fontAlgn="ctr"/>
                      <a:r>
                        <a:rPr lang="en-US" sz="3200" b="1" u="none" strike="noStrike">
                          <a:solidFill>
                            <a:srgbClr val="FFFFFF"/>
                          </a:solidFill>
                          <a:effectLst/>
                        </a:rPr>
                        <a:t>Result</a:t>
                      </a:r>
                      <a:endParaRPr lang="en-US" sz="3200" b="1" i="0" u="none" strike="noStrike">
                        <a:solidFill>
                          <a:srgbClr val="FFFFFF"/>
                        </a:solidFill>
                        <a:effectLst/>
                        <a:latin typeface="Inter" panose="02000503000000020004" pitchFamily="2" charset="0"/>
                        <a:ea typeface="Inter" panose="02000503000000020004" pitchFamily="2" charset="0"/>
                      </a:endParaRPr>
                    </a:p>
                  </a:txBody>
                  <a:tcPr marL="6350" marR="6350" marT="63500" marB="63500" anchor="ctr">
                    <a:solidFill>
                      <a:srgbClr val="026A94"/>
                    </a:solidFill>
                  </a:tcPr>
                </a:tc>
                <a:extLst>
                  <a:ext uri="{0D108BD9-81ED-4DB2-BD59-A6C34878D82A}">
                    <a16:rowId xmlns:a16="http://schemas.microsoft.com/office/drawing/2014/main" val="2673693546"/>
                  </a:ext>
                </a:extLst>
              </a:tr>
              <a:tr h="901693">
                <a:tc>
                  <a:txBody>
                    <a:bodyPr/>
                    <a:lstStyle/>
                    <a:p>
                      <a:pPr algn="ctr" fontAlgn="ctr"/>
                      <a:r>
                        <a:rPr lang="en-US" sz="3200" b="1" u="none" strike="noStrike">
                          <a:solidFill>
                            <a:srgbClr val="000000"/>
                          </a:solidFill>
                          <a:effectLst/>
                        </a:rPr>
                        <a:t>R²</a:t>
                      </a:r>
                      <a:endParaRPr lang="en-US" sz="3200" b="1"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tc>
                  <a:txBody>
                    <a:bodyPr/>
                    <a:lstStyle/>
                    <a:p>
                      <a:pPr algn="ctr" fontAlgn="ctr"/>
                      <a:r>
                        <a:rPr lang="en-US" sz="3200" b="0" u="none" strike="noStrike">
                          <a:solidFill>
                            <a:srgbClr val="000000"/>
                          </a:solidFill>
                          <a:effectLst/>
                        </a:rPr>
                        <a:t>0.034</a:t>
                      </a:r>
                      <a:endParaRPr lang="en-US" sz="3200" b="0"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extLst>
                  <a:ext uri="{0D108BD9-81ED-4DB2-BD59-A6C34878D82A}">
                    <a16:rowId xmlns:a16="http://schemas.microsoft.com/office/drawing/2014/main" val="622357902"/>
                  </a:ext>
                </a:extLst>
              </a:tr>
              <a:tr h="901693">
                <a:tc>
                  <a:txBody>
                    <a:bodyPr/>
                    <a:lstStyle/>
                    <a:p>
                      <a:pPr algn="ctr" fontAlgn="ctr"/>
                      <a:r>
                        <a:rPr lang="en-US" sz="3200" b="1" u="none" strike="noStrike">
                          <a:solidFill>
                            <a:srgbClr val="000000"/>
                          </a:solidFill>
                          <a:effectLst/>
                        </a:rPr>
                        <a:t>Adj. R²</a:t>
                      </a:r>
                      <a:endParaRPr lang="en-US" sz="3200" b="1"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tc>
                  <a:txBody>
                    <a:bodyPr/>
                    <a:lstStyle/>
                    <a:p>
                      <a:pPr algn="ctr" fontAlgn="ctr"/>
                      <a:r>
                        <a:rPr lang="en-US" sz="3200" b="0" u="none" strike="noStrike">
                          <a:solidFill>
                            <a:srgbClr val="000000"/>
                          </a:solidFill>
                          <a:effectLst/>
                        </a:rPr>
                        <a:t>0.008</a:t>
                      </a:r>
                      <a:endParaRPr lang="en-US" sz="3200" b="0"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extLst>
                  <a:ext uri="{0D108BD9-81ED-4DB2-BD59-A6C34878D82A}">
                    <a16:rowId xmlns:a16="http://schemas.microsoft.com/office/drawing/2014/main" val="1867315297"/>
                  </a:ext>
                </a:extLst>
              </a:tr>
              <a:tr h="901693">
                <a:tc>
                  <a:txBody>
                    <a:bodyPr/>
                    <a:lstStyle/>
                    <a:p>
                      <a:pPr algn="ctr" fontAlgn="ctr"/>
                      <a:r>
                        <a:rPr lang="en-US" sz="3200" b="1" u="none" strike="noStrike">
                          <a:solidFill>
                            <a:srgbClr val="000000"/>
                          </a:solidFill>
                          <a:effectLst/>
                        </a:rPr>
                        <a:t>F-stat p-value</a:t>
                      </a:r>
                      <a:endParaRPr lang="en-US" sz="3200" b="1"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tc>
                  <a:txBody>
                    <a:bodyPr/>
                    <a:lstStyle/>
                    <a:p>
                      <a:pPr algn="ctr" fontAlgn="ctr"/>
                      <a:r>
                        <a:rPr lang="en-US" sz="3200" b="0" u="none" strike="noStrike">
                          <a:solidFill>
                            <a:srgbClr val="000000"/>
                          </a:solidFill>
                          <a:effectLst/>
                        </a:rPr>
                        <a:t>0.244</a:t>
                      </a:r>
                      <a:endParaRPr lang="en-US" sz="3200" b="0"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extLst>
                  <a:ext uri="{0D108BD9-81ED-4DB2-BD59-A6C34878D82A}">
                    <a16:rowId xmlns:a16="http://schemas.microsoft.com/office/drawing/2014/main" val="1235253284"/>
                  </a:ext>
                </a:extLst>
              </a:tr>
              <a:tr h="901693">
                <a:tc>
                  <a:txBody>
                    <a:bodyPr/>
                    <a:lstStyle/>
                    <a:p>
                      <a:pPr algn="ctr" fontAlgn="ctr"/>
                      <a:r>
                        <a:rPr lang="en-US" sz="3200" b="1" u="none" strike="noStrike">
                          <a:solidFill>
                            <a:srgbClr val="000000"/>
                          </a:solidFill>
                          <a:effectLst/>
                        </a:rPr>
                        <a:t>Most p-values</a:t>
                      </a:r>
                      <a:endParaRPr lang="en-US" sz="3200" b="1"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tc>
                  <a:txBody>
                    <a:bodyPr/>
                    <a:lstStyle/>
                    <a:p>
                      <a:pPr algn="ctr" fontAlgn="ctr"/>
                      <a:r>
                        <a:rPr lang="en-US" sz="3200" b="0" u="none" strike="noStrike">
                          <a:solidFill>
                            <a:srgbClr val="000000"/>
                          </a:solidFill>
                          <a:effectLst/>
                        </a:rPr>
                        <a:t>&gt; 0.4</a:t>
                      </a:r>
                      <a:endParaRPr lang="en-US" sz="3200" b="0"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extLst>
                  <a:ext uri="{0D108BD9-81ED-4DB2-BD59-A6C34878D82A}">
                    <a16:rowId xmlns:a16="http://schemas.microsoft.com/office/drawing/2014/main" val="983316881"/>
                  </a:ext>
                </a:extLst>
              </a:tr>
              <a:tr h="1414725">
                <a:tc>
                  <a:txBody>
                    <a:bodyPr/>
                    <a:lstStyle/>
                    <a:p>
                      <a:pPr algn="ctr" fontAlgn="ctr"/>
                      <a:r>
                        <a:rPr lang="en-US" sz="3200" b="1" u="none" strike="noStrike">
                          <a:solidFill>
                            <a:srgbClr val="000000"/>
                          </a:solidFill>
                          <a:effectLst/>
                        </a:rPr>
                        <a:t>Condition Number</a:t>
                      </a:r>
                      <a:endParaRPr lang="en-US" sz="3200" b="1"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tc>
                  <a:txBody>
                    <a:bodyPr/>
                    <a:lstStyle/>
                    <a:p>
                      <a:pPr algn="ctr" fontAlgn="ctr"/>
                      <a:r>
                        <a:rPr lang="en-US" sz="3200" b="0" u="none" strike="noStrike">
                          <a:solidFill>
                            <a:srgbClr val="000000"/>
                          </a:solidFill>
                          <a:effectLst/>
                        </a:rPr>
                        <a:t>3840</a:t>
                      </a:r>
                      <a:endParaRPr lang="en-US" sz="3200" b="0" i="0" u="none" strike="noStrike">
                        <a:solidFill>
                          <a:srgbClr val="000000"/>
                        </a:solidFill>
                        <a:effectLst/>
                        <a:latin typeface="Inter" panose="02000503000000020004" pitchFamily="2" charset="0"/>
                        <a:ea typeface="Inter" panose="02000503000000020004" pitchFamily="2" charset="0"/>
                      </a:endParaRPr>
                    </a:p>
                  </a:txBody>
                  <a:tcPr marL="6350" marR="6350" marT="63500" marB="63500" anchor="ctr"/>
                </a:tc>
                <a:extLst>
                  <a:ext uri="{0D108BD9-81ED-4DB2-BD59-A6C34878D82A}">
                    <a16:rowId xmlns:a16="http://schemas.microsoft.com/office/drawing/2014/main" val="2658944958"/>
                  </a:ext>
                </a:extLst>
              </a:tr>
            </a:tbl>
          </a:graphicData>
        </a:graphic>
      </p:graphicFrame>
      <p:pic>
        <p:nvPicPr>
          <p:cNvPr id="22" name="Picture 21" descr="A screen shot of a computer code&#10;&#10;AI-generated content may be incorrect.">
            <a:extLst>
              <a:ext uri="{FF2B5EF4-FFF2-40B4-BE49-F238E27FC236}">
                <a16:creationId xmlns:a16="http://schemas.microsoft.com/office/drawing/2014/main" id="{DE358335-7964-8ED1-BD11-ABDEEBEFE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0053" y="8530769"/>
            <a:ext cx="12284495" cy="2673448"/>
          </a:xfrm>
          <a:prstGeom prst="rect">
            <a:avLst/>
          </a:prstGeom>
        </p:spPr>
      </p:pic>
    </p:spTree>
    <p:extLst>
      <p:ext uri="{BB962C8B-B14F-4D97-AF65-F5344CB8AC3E}">
        <p14:creationId xmlns:p14="http://schemas.microsoft.com/office/powerpoint/2010/main" val="3307749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BF23A1-EC79-611D-814A-98BBEF82E13F}"/>
              </a:ext>
            </a:extLst>
          </p:cNvPr>
          <p:cNvSpPr>
            <a:spLocks noGrp="1"/>
          </p:cNvSpPr>
          <p:nvPr>
            <p:ph type="title"/>
          </p:nvPr>
        </p:nvSpPr>
        <p:spPr>
          <a:xfrm>
            <a:off x="914399" y="1143000"/>
            <a:ext cx="21031201" cy="1371600"/>
          </a:xfrm>
        </p:spPr>
        <p:txBody>
          <a:bodyPr anchor="ctr">
            <a:normAutofit/>
          </a:bodyPr>
          <a:lstStyle/>
          <a:p>
            <a:r>
              <a:rPr lang="en-US"/>
              <a:t>Rolling Window Analysis</a:t>
            </a:r>
          </a:p>
        </p:txBody>
      </p:sp>
      <p:pic>
        <p:nvPicPr>
          <p:cNvPr id="7170" name="Picture 2" descr="A graph of a graph&#10;&#10;AI-generated content may be incorrect.">
            <a:extLst>
              <a:ext uri="{FF2B5EF4-FFF2-40B4-BE49-F238E27FC236}">
                <a16:creationId xmlns:a16="http://schemas.microsoft.com/office/drawing/2014/main" id="{136427DE-C732-8A74-1D95-6D78449FD33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b="4297"/>
          <a:stretch/>
        </p:blipFill>
        <p:spPr bwMode="auto">
          <a:xfrm>
            <a:off x="7531482" y="3201814"/>
            <a:ext cx="16543543" cy="7054097"/>
          </a:xfrm>
          <a:prstGeom prst="rect">
            <a:avLst/>
          </a:prstGeom>
          <a:solidFill>
            <a:srgbClr val="FFFFFF"/>
          </a:solidFill>
        </p:spPr>
      </p:pic>
      <p:sp>
        <p:nvSpPr>
          <p:cNvPr id="5" name="Slide Number Placeholder 4">
            <a:extLst>
              <a:ext uri="{FF2B5EF4-FFF2-40B4-BE49-F238E27FC236}">
                <a16:creationId xmlns:a16="http://schemas.microsoft.com/office/drawing/2014/main" id="{A3CCEE62-8ED8-B3AD-5578-A6EFDD59C29C}"/>
              </a:ext>
            </a:extLst>
          </p:cNvPr>
          <p:cNvSpPr>
            <a:spLocks noGrp="1"/>
          </p:cNvSpPr>
          <p:nvPr>
            <p:ph type="sldNum" sz="quarter" idx="2"/>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9</a:t>
            </a:fld>
            <a:endParaRPr lang="en-US"/>
          </a:p>
        </p:txBody>
      </p:sp>
      <p:sp>
        <p:nvSpPr>
          <p:cNvPr id="4" name="Content Placeholder 1">
            <a:extLst>
              <a:ext uri="{FF2B5EF4-FFF2-40B4-BE49-F238E27FC236}">
                <a16:creationId xmlns:a16="http://schemas.microsoft.com/office/drawing/2014/main" id="{BD5DAB40-292D-1AEC-C3A1-507A34B51318}"/>
              </a:ext>
            </a:extLst>
          </p:cNvPr>
          <p:cNvSpPr>
            <a:spLocks noGrp="1"/>
          </p:cNvSpPr>
          <p:nvPr/>
        </p:nvSpPr>
        <p:spPr>
          <a:xfrm>
            <a:off x="914399" y="3473169"/>
            <a:ext cx="7427935" cy="5306622"/>
          </a:xfrm>
          <a:prstGeom prst="rect">
            <a:avLst/>
          </a:prstGeom>
        </p:spPr>
        <p:txBody>
          <a:bodyPr vert="horz" lIns="91440" tIns="45720" rIns="91440" bIns="45720" rtlCol="0" anchor="t">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rgbClr val="667085"/>
                </a:solidFill>
                <a:latin typeface="Inter" panose="02000503000000020004" pitchFamily="2" charset="0"/>
                <a:ea typeface="Inter" panose="02000503000000020004" pitchFamily="2" charset="0"/>
                <a:cs typeface="Poppins" pitchFamily="2" charset="77"/>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rgbClr val="667085"/>
                </a:solidFill>
                <a:latin typeface="Inter" panose="02000503000000020004" pitchFamily="2" charset="0"/>
                <a:ea typeface="Inter" panose="02000503000000020004" pitchFamily="2" charset="0"/>
                <a:cs typeface="Poppins" pitchFamily="2" charset="77"/>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rgbClr val="667085"/>
                </a:solidFill>
                <a:latin typeface="Inter" panose="02000503000000020004" pitchFamily="2" charset="0"/>
                <a:ea typeface="Inter" panose="02000503000000020004" pitchFamily="2" charset="0"/>
                <a:cs typeface="Poppins" pitchFamily="2" charset="77"/>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rgbClr val="667085"/>
                </a:solidFill>
                <a:latin typeface="Inter" panose="02000503000000020004" pitchFamily="2" charset="0"/>
                <a:ea typeface="Inter" panose="02000503000000020004" pitchFamily="2" charset="0"/>
                <a:cs typeface="Poppins" pitchFamily="2" charset="77"/>
              </a:defRPr>
            </a:lvl5pPr>
            <a:lvl6pPr marL="2286000" indent="0" algn="l" defTabSz="914400" rtl="0" eaLnBrk="1" latinLnBrk="0" hangingPunct="1">
              <a:lnSpc>
                <a:spcPct val="150000"/>
              </a:lnSpc>
              <a:spcBef>
                <a:spcPts val="500"/>
              </a:spcBef>
              <a:buFont typeface="Arial" panose="020B0604020202020204" pitchFamily="34" charset="0"/>
              <a:buNone/>
              <a:defRPr sz="1800" kern="1200">
                <a:solidFill>
                  <a:schemeClr val="tx1"/>
                </a:solidFill>
                <a:latin typeface="Inter" panose="02000503000000020004" pitchFamily="2" charset="0"/>
                <a:ea typeface="Inter" panose="02000503000000020004" pitchFamily="2" charset="0"/>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latin typeface="Inter"/>
                <a:cs typeface="Poppins"/>
              </a:rPr>
              <a:t>24 Month Rolling Beta Regressions</a:t>
            </a:r>
          </a:p>
          <a:p>
            <a:r>
              <a:rPr lang="en-US" sz="3600">
                <a:latin typeface="Inter"/>
                <a:cs typeface="Poppins"/>
              </a:rPr>
              <a:t>Key Interpretations (t-1, t-3)</a:t>
            </a:r>
          </a:p>
          <a:p>
            <a:pPr lvl="1">
              <a:buFont typeface="Courier New,monospace" panose="020B0604020202020204" pitchFamily="34" charset="0"/>
              <a:buChar char="o"/>
            </a:pPr>
            <a:r>
              <a:rPr lang="en-US" sz="3600">
                <a:latin typeface="Arial"/>
                <a:cs typeface="Arial"/>
              </a:rPr>
              <a:t>Unemployment Rate </a:t>
            </a:r>
            <a:endParaRPr lang="en-US" sz="3600">
              <a:solidFill>
                <a:srgbClr val="000000"/>
              </a:solidFill>
              <a:latin typeface="Arial"/>
              <a:cs typeface="Arial"/>
            </a:endParaRPr>
          </a:p>
          <a:p>
            <a:pPr lvl="1">
              <a:buFont typeface="Courier New,monospace" panose="020B0604020202020204" pitchFamily="34" charset="0"/>
              <a:buChar char="o"/>
            </a:pPr>
            <a:r>
              <a:rPr lang="en-US" sz="3600">
                <a:latin typeface="Arial"/>
                <a:cs typeface="Arial"/>
              </a:rPr>
              <a:t>Yield Spread</a:t>
            </a:r>
            <a:endParaRPr lang="en-US" sz="3600">
              <a:solidFill>
                <a:srgbClr val="000000"/>
              </a:solidFill>
              <a:latin typeface="Arial"/>
              <a:cs typeface="Arial"/>
            </a:endParaRPr>
          </a:p>
          <a:p>
            <a:pPr lvl="1">
              <a:buFont typeface="Courier New,monospace" panose="020B0604020202020204" pitchFamily="34" charset="0"/>
              <a:buChar char="o"/>
            </a:pPr>
            <a:r>
              <a:rPr lang="en-US" sz="3600">
                <a:latin typeface="Arial"/>
                <a:cs typeface="Arial"/>
              </a:rPr>
              <a:t>Fed Funds Rate</a:t>
            </a:r>
            <a:endParaRPr lang="en-US" sz="3600">
              <a:solidFill>
                <a:srgbClr val="000000"/>
              </a:solidFill>
              <a:latin typeface="Arial"/>
              <a:cs typeface="Arial"/>
            </a:endParaRPr>
          </a:p>
          <a:p>
            <a:pPr lvl="1">
              <a:buFont typeface="Courier New,monospace" panose="020B0604020202020204" pitchFamily="34" charset="0"/>
              <a:buChar char="o"/>
            </a:pPr>
            <a:r>
              <a:rPr lang="en-US" sz="3600">
                <a:latin typeface="Arial"/>
                <a:cs typeface="Arial"/>
              </a:rPr>
              <a:t>CPI</a:t>
            </a:r>
            <a:endParaRPr lang="en-US" sz="3600"/>
          </a:p>
          <a:p>
            <a:r>
              <a:rPr lang="en-US" sz="3600">
                <a:latin typeface="Inter"/>
                <a:cs typeface="Poppins"/>
              </a:rPr>
              <a:t>Overall Takeaways</a:t>
            </a:r>
          </a:p>
          <a:p>
            <a:pPr lvl="1">
              <a:buFont typeface="Courier New" panose="020B0604020202020204" pitchFamily="34" charset="0"/>
              <a:buChar char="o"/>
            </a:pPr>
            <a:endParaRPr lang="en-US" sz="3600"/>
          </a:p>
        </p:txBody>
      </p:sp>
    </p:spTree>
    <p:extLst>
      <p:ext uri="{BB962C8B-B14F-4D97-AF65-F5344CB8AC3E}">
        <p14:creationId xmlns:p14="http://schemas.microsoft.com/office/powerpoint/2010/main" val="27806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EC9470-666F-9550-2BFA-B6959EB71A61}"/>
              </a:ext>
            </a:extLst>
          </p:cNvPr>
          <p:cNvSpPr>
            <a:spLocks noGrp="1"/>
          </p:cNvSpPr>
          <p:nvPr>
            <p:ph sz="half" idx="2"/>
          </p:nvPr>
        </p:nvSpPr>
        <p:spPr>
          <a:xfrm>
            <a:off x="914399" y="3218330"/>
            <a:ext cx="12087617" cy="9146972"/>
          </a:xfrm>
        </p:spPr>
        <p:txBody>
          <a:bodyPr>
            <a:noAutofit/>
          </a:bodyPr>
          <a:lstStyle/>
          <a:p>
            <a:r>
              <a:rPr lang="en-US" sz="4000"/>
              <a:t> We’re looking for an early warning (predictive) signal </a:t>
            </a:r>
          </a:p>
          <a:p>
            <a:r>
              <a:rPr lang="en-US" sz="4000"/>
              <a:t>P-Value &lt;0.05 </a:t>
            </a:r>
            <a:r>
              <a:rPr lang="en-US" sz="4000">
                <a:sym typeface="Wingdings" panose="05000000000000000000" pitchFamily="2" charset="2"/>
              </a:rPr>
              <a:t> Statistically significant predictive relationship </a:t>
            </a:r>
          </a:p>
          <a:p>
            <a:r>
              <a:rPr lang="en-US" sz="4000" b="1">
                <a:sym typeface="Wingdings" panose="05000000000000000000" pitchFamily="2" charset="2"/>
              </a:rPr>
              <a:t>Key Findings</a:t>
            </a:r>
          </a:p>
          <a:p>
            <a:pPr lvl="1"/>
            <a:r>
              <a:rPr lang="en-US" sz="4000">
                <a:sym typeface="Wingdings" panose="05000000000000000000" pitchFamily="2" charset="2"/>
              </a:rPr>
              <a:t>Investors adjust their behavior to monetary policy posted 3 and 4 months before with a delay </a:t>
            </a:r>
          </a:p>
          <a:p>
            <a:pPr lvl="1"/>
            <a:r>
              <a:rPr lang="en-US" sz="4000">
                <a:sym typeface="Wingdings" panose="05000000000000000000" pitchFamily="2" charset="2"/>
              </a:rPr>
              <a:t>This may reflect the delayed effect of inflation expectations on equity risk premiums or Fed response</a:t>
            </a:r>
          </a:p>
          <a:p>
            <a:pPr lvl="1"/>
            <a:endParaRPr lang="en-US" sz="4000"/>
          </a:p>
        </p:txBody>
      </p:sp>
      <p:sp>
        <p:nvSpPr>
          <p:cNvPr id="5" name="Slide Number Placeholder 4">
            <a:extLst>
              <a:ext uri="{FF2B5EF4-FFF2-40B4-BE49-F238E27FC236}">
                <a16:creationId xmlns:a16="http://schemas.microsoft.com/office/drawing/2014/main" id="{565E5457-7390-551A-F426-0BAFCDA6FBB5}"/>
              </a:ext>
            </a:extLst>
          </p:cNvPr>
          <p:cNvSpPr>
            <a:spLocks noGrp="1"/>
          </p:cNvSpPr>
          <p:nvPr>
            <p:ph type="sldNum" sz="quarter" idx="14"/>
          </p:nvPr>
        </p:nvSpPr>
        <p:spPr>
          <a:xfrm>
            <a:off x="11869820" y="13059225"/>
            <a:ext cx="631660" cy="409277"/>
          </a:xfrm>
        </p:spPr>
        <p:txBody>
          <a:bodyPr anchor="ctr">
            <a:normAutofit/>
          </a:bodyPr>
          <a:lstStyle/>
          <a:p>
            <a:pPr>
              <a:spcAft>
                <a:spcPts val="600"/>
              </a:spcAft>
            </a:pPr>
            <a:fld id="{86CB4B4D-7CA3-9044-876B-883B54F8677D}" type="slidenum">
              <a:rPr lang="en-US" smtClean="0"/>
              <a:pPr>
                <a:spcAft>
                  <a:spcPts val="600"/>
                </a:spcAft>
              </a:pPr>
              <a:t>10</a:t>
            </a:fld>
            <a:endParaRPr lang="en-US"/>
          </a:p>
        </p:txBody>
      </p:sp>
      <p:sp>
        <p:nvSpPr>
          <p:cNvPr id="6" name="Title 5">
            <a:extLst>
              <a:ext uri="{FF2B5EF4-FFF2-40B4-BE49-F238E27FC236}">
                <a16:creationId xmlns:a16="http://schemas.microsoft.com/office/drawing/2014/main" id="{1831DC6E-DAF9-69A4-0CCC-BFCF184BCA45}"/>
              </a:ext>
            </a:extLst>
          </p:cNvPr>
          <p:cNvSpPr>
            <a:spLocks noGrp="1"/>
          </p:cNvSpPr>
          <p:nvPr>
            <p:ph type="title"/>
          </p:nvPr>
        </p:nvSpPr>
        <p:spPr>
          <a:xfrm>
            <a:off x="914399" y="1143000"/>
            <a:ext cx="21031201" cy="1371600"/>
          </a:xfrm>
        </p:spPr>
        <p:txBody>
          <a:bodyPr anchor="ctr">
            <a:normAutofit/>
          </a:bodyPr>
          <a:lstStyle/>
          <a:p>
            <a:r>
              <a:rPr lang="en-US"/>
              <a:t>Granger Causality Test</a:t>
            </a:r>
          </a:p>
        </p:txBody>
      </p:sp>
      <p:graphicFrame>
        <p:nvGraphicFramePr>
          <p:cNvPr id="7" name="Content Placeholder 6">
            <a:extLst>
              <a:ext uri="{FF2B5EF4-FFF2-40B4-BE49-F238E27FC236}">
                <a16:creationId xmlns:a16="http://schemas.microsoft.com/office/drawing/2014/main" id="{69704DAE-A582-EB0B-EAB5-A8683B00D579}"/>
              </a:ext>
            </a:extLst>
          </p:cNvPr>
          <p:cNvGraphicFramePr>
            <a:graphicFrameLocks noGrp="1"/>
          </p:cNvGraphicFramePr>
          <p:nvPr>
            <p:ph sz="half" idx="1"/>
            <p:extLst>
              <p:ext uri="{D42A27DB-BD31-4B8C-83A1-F6EECF244321}">
                <p14:modId xmlns:p14="http://schemas.microsoft.com/office/powerpoint/2010/main" val="316879409"/>
              </p:ext>
            </p:extLst>
          </p:nvPr>
        </p:nvGraphicFramePr>
        <p:xfrm>
          <a:off x="13162035" y="6237982"/>
          <a:ext cx="10048694" cy="5737939"/>
        </p:xfrm>
        <a:graphic>
          <a:graphicData uri="http://schemas.openxmlformats.org/drawingml/2006/table">
            <a:tbl>
              <a:tblPr firstRow="1" bandRow="1">
                <a:tableStyleId>{2D5ABB26-0587-4C30-8999-92F81FD0307C}</a:tableStyleId>
              </a:tblPr>
              <a:tblGrid>
                <a:gridCol w="3485026">
                  <a:extLst>
                    <a:ext uri="{9D8B030D-6E8A-4147-A177-3AD203B41FA5}">
                      <a16:colId xmlns:a16="http://schemas.microsoft.com/office/drawing/2014/main" val="2960000565"/>
                    </a:ext>
                  </a:extLst>
                </a:gridCol>
                <a:gridCol w="1118842">
                  <a:extLst>
                    <a:ext uri="{9D8B030D-6E8A-4147-A177-3AD203B41FA5}">
                      <a16:colId xmlns:a16="http://schemas.microsoft.com/office/drawing/2014/main" val="181108176"/>
                    </a:ext>
                  </a:extLst>
                </a:gridCol>
                <a:gridCol w="2393342">
                  <a:extLst>
                    <a:ext uri="{9D8B030D-6E8A-4147-A177-3AD203B41FA5}">
                      <a16:colId xmlns:a16="http://schemas.microsoft.com/office/drawing/2014/main" val="2302770716"/>
                    </a:ext>
                  </a:extLst>
                </a:gridCol>
                <a:gridCol w="3051484">
                  <a:extLst>
                    <a:ext uri="{9D8B030D-6E8A-4147-A177-3AD203B41FA5}">
                      <a16:colId xmlns:a16="http://schemas.microsoft.com/office/drawing/2014/main" val="2675147173"/>
                    </a:ext>
                  </a:extLst>
                </a:gridCol>
              </a:tblGrid>
              <a:tr h="601012">
                <a:tc>
                  <a:txBody>
                    <a:bodyPr/>
                    <a:lstStyle/>
                    <a:p>
                      <a:pPr algn="ctr" fontAlgn="ctr"/>
                      <a:r>
                        <a:rPr lang="en-US" sz="2400" u="none" strike="noStrike">
                          <a:solidFill>
                            <a:schemeClr val="bg1"/>
                          </a:solidFill>
                          <a:effectLst/>
                          <a:latin typeface="Inter" panose="02000503000000020004" pitchFamily="2" charset="0"/>
                          <a:ea typeface="Inter" panose="02000503000000020004" pitchFamily="2" charset="0"/>
                        </a:rPr>
                        <a:t>Variable</a:t>
                      </a:r>
                      <a:endParaRPr lang="en-US" sz="2400" b="1" i="0" u="none" strike="noStrike">
                        <a:solidFill>
                          <a:schemeClr val="bg1"/>
                        </a:solidFill>
                        <a:effectLst/>
                        <a:latin typeface="Inter" panose="02000503000000020004" pitchFamily="2" charset="0"/>
                        <a:ea typeface="Inter" panose="02000503000000020004" pitchFamily="2" charset="0"/>
                      </a:endParaRPr>
                    </a:p>
                  </a:txBody>
                  <a:tcPr marL="19050" marR="19050" marT="19050" marB="0" anchor="ctr">
                    <a:solidFill>
                      <a:srgbClr val="026A94"/>
                    </a:solidFill>
                  </a:tcPr>
                </a:tc>
                <a:tc>
                  <a:txBody>
                    <a:bodyPr/>
                    <a:lstStyle/>
                    <a:p>
                      <a:pPr algn="ctr" fontAlgn="ctr"/>
                      <a:r>
                        <a:rPr lang="en-US" sz="2400" u="none" strike="noStrike">
                          <a:solidFill>
                            <a:schemeClr val="bg1"/>
                          </a:solidFill>
                          <a:effectLst/>
                          <a:latin typeface="Inter" panose="02000503000000020004" pitchFamily="2" charset="0"/>
                          <a:ea typeface="Inter" panose="02000503000000020004" pitchFamily="2" charset="0"/>
                        </a:rPr>
                        <a:t>Lag</a:t>
                      </a:r>
                      <a:endParaRPr lang="en-US" sz="2400" b="1" i="0" u="none" strike="noStrike">
                        <a:solidFill>
                          <a:schemeClr val="bg1"/>
                        </a:solidFill>
                        <a:effectLst/>
                        <a:latin typeface="Inter" panose="02000503000000020004" pitchFamily="2" charset="0"/>
                        <a:ea typeface="Inter" panose="02000503000000020004" pitchFamily="2" charset="0"/>
                      </a:endParaRPr>
                    </a:p>
                  </a:txBody>
                  <a:tcPr marL="19050" marR="19050" marT="19050" marB="0" anchor="ctr">
                    <a:solidFill>
                      <a:srgbClr val="026A94"/>
                    </a:solidFill>
                  </a:tcPr>
                </a:tc>
                <a:tc>
                  <a:txBody>
                    <a:bodyPr/>
                    <a:lstStyle/>
                    <a:p>
                      <a:pPr algn="ctr" fontAlgn="ctr"/>
                      <a:r>
                        <a:rPr lang="en-US" sz="2400" u="none" strike="noStrike">
                          <a:solidFill>
                            <a:schemeClr val="bg1"/>
                          </a:solidFill>
                          <a:effectLst/>
                          <a:latin typeface="Inter" panose="02000503000000020004" pitchFamily="2" charset="0"/>
                          <a:ea typeface="Inter" panose="02000503000000020004" pitchFamily="2" charset="0"/>
                        </a:rPr>
                        <a:t>p-value</a:t>
                      </a:r>
                      <a:endParaRPr lang="en-US" sz="2400" b="1" i="0" u="none" strike="noStrike">
                        <a:solidFill>
                          <a:schemeClr val="bg1"/>
                        </a:solidFill>
                        <a:effectLst/>
                        <a:latin typeface="Inter" panose="02000503000000020004" pitchFamily="2" charset="0"/>
                        <a:ea typeface="Inter" panose="02000503000000020004" pitchFamily="2" charset="0"/>
                      </a:endParaRPr>
                    </a:p>
                  </a:txBody>
                  <a:tcPr marL="19050" marR="19050" marT="19050" marB="0" anchor="ctr">
                    <a:solidFill>
                      <a:srgbClr val="026A94"/>
                    </a:solidFill>
                  </a:tcPr>
                </a:tc>
                <a:tc>
                  <a:txBody>
                    <a:bodyPr/>
                    <a:lstStyle/>
                    <a:p>
                      <a:pPr algn="ctr" fontAlgn="ctr"/>
                      <a:r>
                        <a:rPr lang="en-US" sz="2400" u="none" strike="noStrike">
                          <a:solidFill>
                            <a:schemeClr val="bg1"/>
                          </a:solidFill>
                          <a:effectLst/>
                          <a:latin typeface="Inter" panose="02000503000000020004" pitchFamily="2" charset="0"/>
                          <a:ea typeface="Inter" panose="02000503000000020004" pitchFamily="2" charset="0"/>
                        </a:rPr>
                        <a:t>Interpretation</a:t>
                      </a:r>
                      <a:endParaRPr lang="en-US" sz="2400" b="1" i="0" u="none" strike="noStrike">
                        <a:solidFill>
                          <a:schemeClr val="bg1"/>
                        </a:solidFill>
                        <a:effectLst/>
                        <a:latin typeface="Inter" panose="02000503000000020004" pitchFamily="2" charset="0"/>
                        <a:ea typeface="Inter" panose="02000503000000020004" pitchFamily="2" charset="0"/>
                      </a:endParaRPr>
                    </a:p>
                  </a:txBody>
                  <a:tcPr marL="19050" marR="19050" marT="19050" marB="0" anchor="ctr">
                    <a:solidFill>
                      <a:srgbClr val="026A94"/>
                    </a:solidFill>
                  </a:tcPr>
                </a:tc>
                <a:extLst>
                  <a:ext uri="{0D108BD9-81ED-4DB2-BD59-A6C34878D82A}">
                    <a16:rowId xmlns:a16="http://schemas.microsoft.com/office/drawing/2014/main" val="1882846506"/>
                  </a:ext>
                </a:extLst>
              </a:tr>
              <a:tr h="1152138">
                <a:tc>
                  <a:txBody>
                    <a:bodyPr/>
                    <a:lstStyle/>
                    <a:p>
                      <a:pPr algn="ctr" fontAlgn="ctr"/>
                      <a:r>
                        <a:rPr lang="en-US" sz="2400" b="1" u="none" strike="noStrike">
                          <a:effectLst/>
                          <a:latin typeface="Inter" panose="02000503000000020004" pitchFamily="2" charset="0"/>
                          <a:ea typeface="Inter" panose="02000503000000020004" pitchFamily="2" charset="0"/>
                        </a:rPr>
                        <a:t>Fed Funds Rate (t-3)</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b="1" u="none" strike="noStrike">
                          <a:effectLst/>
                          <a:latin typeface="Inter" panose="02000503000000020004" pitchFamily="2" charset="0"/>
                          <a:ea typeface="Inter" panose="02000503000000020004" pitchFamily="2" charset="0"/>
                        </a:rPr>
                        <a:t>2</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b="1" u="none" strike="noStrike">
                          <a:effectLst/>
                          <a:latin typeface="Inter" panose="02000503000000020004" pitchFamily="2" charset="0"/>
                          <a:ea typeface="Inter" panose="02000503000000020004" pitchFamily="2" charset="0"/>
                        </a:rPr>
                        <a:t>0.0244</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b="1" u="none" strike="noStrike">
                          <a:effectLst/>
                          <a:latin typeface="Inter" panose="02000503000000020004" pitchFamily="2" charset="0"/>
                          <a:ea typeface="Inter" panose="02000503000000020004" pitchFamily="2" charset="0"/>
                        </a:rPr>
                        <a:t>Predictive</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extLst>
                  <a:ext uri="{0D108BD9-81ED-4DB2-BD59-A6C34878D82A}">
                    <a16:rowId xmlns:a16="http://schemas.microsoft.com/office/drawing/2014/main" val="958440721"/>
                  </a:ext>
                </a:extLst>
              </a:tr>
              <a:tr h="1079501">
                <a:tc>
                  <a:txBody>
                    <a:bodyPr/>
                    <a:lstStyle/>
                    <a:p>
                      <a:pPr algn="ctr" fontAlgn="ctr"/>
                      <a:r>
                        <a:rPr lang="en-US" sz="2400" b="1" u="none" strike="noStrike">
                          <a:effectLst/>
                          <a:latin typeface="Inter" panose="02000503000000020004" pitchFamily="2" charset="0"/>
                          <a:ea typeface="Inter" panose="02000503000000020004" pitchFamily="2" charset="0"/>
                        </a:rPr>
                        <a:t>CPI Inflation (t-3)</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b="1" u="none" strike="noStrike">
                          <a:effectLst/>
                          <a:latin typeface="Inter" panose="02000503000000020004" pitchFamily="2" charset="0"/>
                          <a:ea typeface="Inter" panose="02000503000000020004" pitchFamily="2" charset="0"/>
                        </a:rPr>
                        <a:t>2</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b="1" u="none" strike="noStrike">
                          <a:effectLst/>
                          <a:latin typeface="Inter" panose="02000503000000020004" pitchFamily="2" charset="0"/>
                          <a:ea typeface="Inter" panose="02000503000000020004" pitchFamily="2" charset="0"/>
                        </a:rPr>
                        <a:t>0.0288</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b="1" u="none" strike="noStrike">
                          <a:effectLst/>
                          <a:latin typeface="Inter" panose="02000503000000020004" pitchFamily="2" charset="0"/>
                          <a:ea typeface="Inter" panose="02000503000000020004" pitchFamily="2" charset="0"/>
                        </a:rPr>
                        <a:t> Predictive</a:t>
                      </a:r>
                      <a:endParaRPr lang="en-US" sz="2400" b="1"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extLst>
                  <a:ext uri="{0D108BD9-81ED-4DB2-BD59-A6C34878D82A}">
                    <a16:rowId xmlns:a16="http://schemas.microsoft.com/office/drawing/2014/main" val="240613791"/>
                  </a:ext>
                </a:extLst>
              </a:tr>
              <a:tr h="1152138">
                <a:tc>
                  <a:txBody>
                    <a:bodyPr/>
                    <a:lstStyle/>
                    <a:p>
                      <a:pPr algn="ctr" fontAlgn="ctr"/>
                      <a:r>
                        <a:rPr lang="en-US" sz="2400" u="none" strike="noStrike">
                          <a:effectLst/>
                          <a:latin typeface="Inter" panose="02000503000000020004" pitchFamily="2" charset="0"/>
                          <a:ea typeface="Inter" panose="02000503000000020004" pitchFamily="2" charset="0"/>
                        </a:rPr>
                        <a:t>Unemployment (t-1, t-3)</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1–2</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0.06–0.12</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Borderline</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extLst>
                  <a:ext uri="{0D108BD9-81ED-4DB2-BD59-A6C34878D82A}">
                    <a16:rowId xmlns:a16="http://schemas.microsoft.com/office/drawing/2014/main" val="820402162"/>
                  </a:ext>
                </a:extLst>
              </a:tr>
              <a:tr h="1152138">
                <a:tc>
                  <a:txBody>
                    <a:bodyPr/>
                    <a:lstStyle/>
                    <a:p>
                      <a:pPr algn="ctr" fontAlgn="ctr"/>
                      <a:r>
                        <a:rPr lang="en-US" sz="2400" u="none" strike="noStrike">
                          <a:effectLst/>
                          <a:latin typeface="Inter" panose="02000503000000020004" pitchFamily="2" charset="0"/>
                          <a:ea typeface="Inter" panose="02000503000000020004" pitchFamily="2" charset="0"/>
                        </a:rPr>
                        <a:t>Yield Curve (t-1, t-3)</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1–3</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&gt;0.5–0.9</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 Not Predictive</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extLst>
                  <a:ext uri="{0D108BD9-81ED-4DB2-BD59-A6C34878D82A}">
                    <a16:rowId xmlns:a16="http://schemas.microsoft.com/office/drawing/2014/main" val="3890040092"/>
                  </a:ext>
                </a:extLst>
              </a:tr>
              <a:tr h="601012">
                <a:tc>
                  <a:txBody>
                    <a:bodyPr/>
                    <a:lstStyle/>
                    <a:p>
                      <a:pPr algn="ctr" fontAlgn="ctr"/>
                      <a:r>
                        <a:rPr lang="en-US" sz="2400" u="none" strike="noStrike">
                          <a:effectLst/>
                          <a:latin typeface="Inter" panose="02000503000000020004" pitchFamily="2" charset="0"/>
                          <a:ea typeface="Inter" panose="02000503000000020004" pitchFamily="2" charset="0"/>
                        </a:rPr>
                        <a:t>CPI (t-1)</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3</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~0.07</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tc>
                  <a:txBody>
                    <a:bodyPr/>
                    <a:lstStyle/>
                    <a:p>
                      <a:pPr algn="ctr" fontAlgn="ctr"/>
                      <a:r>
                        <a:rPr lang="en-US" sz="2400" u="none" strike="noStrike">
                          <a:effectLst/>
                          <a:latin typeface="Inter" panose="02000503000000020004" pitchFamily="2" charset="0"/>
                          <a:ea typeface="Inter" panose="02000503000000020004" pitchFamily="2" charset="0"/>
                        </a:rPr>
                        <a:t>Borderline</a:t>
                      </a:r>
                      <a:endParaRPr lang="en-US" sz="2400" b="0" i="0" u="none" strike="noStrike">
                        <a:solidFill>
                          <a:srgbClr val="000000"/>
                        </a:solidFill>
                        <a:effectLst/>
                        <a:latin typeface="Inter" panose="02000503000000020004" pitchFamily="2" charset="0"/>
                        <a:ea typeface="Inter" panose="02000503000000020004" pitchFamily="2" charset="0"/>
                      </a:endParaRPr>
                    </a:p>
                  </a:txBody>
                  <a:tcPr marL="19050" marR="19050" marT="19050" marB="0" anchor="ctr"/>
                </a:tc>
                <a:extLst>
                  <a:ext uri="{0D108BD9-81ED-4DB2-BD59-A6C34878D82A}">
                    <a16:rowId xmlns:a16="http://schemas.microsoft.com/office/drawing/2014/main" val="1367711614"/>
                  </a:ext>
                </a:extLst>
              </a:tr>
            </a:tbl>
          </a:graphicData>
        </a:graphic>
      </p:graphicFrame>
      <p:pic>
        <p:nvPicPr>
          <p:cNvPr id="8194" name="Picture 2" descr="Granger Causality - Business Forecasting">
            <a:extLst>
              <a:ext uri="{FF2B5EF4-FFF2-40B4-BE49-F238E27FC236}">
                <a16:creationId xmlns:a16="http://schemas.microsoft.com/office/drawing/2014/main" id="{ADA88012-9685-9460-7498-CD92CA0F2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5164" y="685800"/>
            <a:ext cx="8356426" cy="5538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896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D8016E-5548-6401-C240-B8F6467B1198}"/>
              </a:ext>
            </a:extLst>
          </p:cNvPr>
          <p:cNvSpPr>
            <a:spLocks noGrp="1"/>
          </p:cNvSpPr>
          <p:nvPr>
            <p:ph sz="half" idx="1"/>
          </p:nvPr>
        </p:nvSpPr>
        <p:spPr>
          <a:xfrm>
            <a:off x="513348" y="3224593"/>
            <a:ext cx="11277601" cy="9146972"/>
          </a:xfrm>
        </p:spPr>
        <p:txBody>
          <a:bodyPr vert="horz" lIns="91440" tIns="45720" rIns="91440" bIns="45720" rtlCol="0" anchor="t">
            <a:normAutofit/>
          </a:bodyPr>
          <a:lstStyle/>
          <a:p>
            <a:pPr algn="ctr"/>
            <a:r>
              <a:rPr lang="en-US" sz="4000" b="1">
                <a:latin typeface="Inter"/>
                <a:cs typeface="Poppins"/>
              </a:rPr>
              <a:t>Statistical Relationships </a:t>
            </a:r>
          </a:p>
          <a:p>
            <a:r>
              <a:rPr lang="en-US" sz="4000" b="1">
                <a:latin typeface="Inter"/>
                <a:cs typeface="Poppins"/>
              </a:rPr>
              <a:t>Multivariable Regressions</a:t>
            </a:r>
          </a:p>
          <a:p>
            <a:pPr lvl="1"/>
            <a:r>
              <a:rPr lang="en-US" sz="3600">
                <a:latin typeface="Inter"/>
                <a:cs typeface="Poppins"/>
              </a:rPr>
              <a:t>Model as a whole did not have statistical significance </a:t>
            </a:r>
          </a:p>
          <a:p>
            <a:pPr lvl="1"/>
            <a:r>
              <a:rPr lang="en-US" sz="3600">
                <a:latin typeface="Inter"/>
                <a:cs typeface="Poppins"/>
              </a:rPr>
              <a:t>Indicators did not attribute much to SPY return variance</a:t>
            </a:r>
          </a:p>
          <a:p>
            <a:pPr lvl="1"/>
            <a:r>
              <a:rPr lang="en-US" sz="3600">
                <a:latin typeface="Inter"/>
                <a:cs typeface="Poppins"/>
              </a:rPr>
              <a:t>Too much correlation between predictors</a:t>
            </a:r>
            <a:endParaRPr lang="en-US" sz="4000">
              <a:latin typeface="Inter"/>
              <a:cs typeface="Poppins"/>
            </a:endParaRPr>
          </a:p>
          <a:p>
            <a:r>
              <a:rPr lang="en-US" sz="4000" b="1">
                <a:latin typeface="Inter"/>
                <a:cs typeface="Poppins"/>
              </a:rPr>
              <a:t>Univariable Regressions</a:t>
            </a:r>
          </a:p>
          <a:p>
            <a:pPr lvl="1"/>
            <a:r>
              <a:rPr lang="en-US" sz="3600">
                <a:latin typeface="Inter"/>
                <a:cs typeface="Poppins"/>
              </a:rPr>
              <a:t>Little to no statistical significance across the board</a:t>
            </a:r>
          </a:p>
          <a:p>
            <a:pPr lvl="1"/>
            <a:r>
              <a:rPr lang="en-US" sz="3600">
                <a:latin typeface="Inter"/>
                <a:cs typeface="Poppins"/>
              </a:rPr>
              <a:t>Indicators did not have size &amp;/or directional sensitivity</a:t>
            </a:r>
          </a:p>
          <a:p>
            <a:pPr lvl="1"/>
            <a:r>
              <a:rPr lang="en-US" sz="3600">
                <a:latin typeface="Inter"/>
                <a:cs typeface="Poppins"/>
              </a:rPr>
              <a:t>Indicators did not have explanatory relationship to SPY</a:t>
            </a:r>
          </a:p>
          <a:p>
            <a:pPr lvl="1"/>
            <a:endParaRPr lang="en-US" sz="3600">
              <a:latin typeface="Inter"/>
              <a:cs typeface="Poppins"/>
            </a:endParaRPr>
          </a:p>
          <a:p>
            <a:pPr lvl="1"/>
            <a:endParaRPr lang="en-US" sz="3600">
              <a:latin typeface="Inter"/>
              <a:cs typeface="Poppins"/>
            </a:endParaRPr>
          </a:p>
          <a:p>
            <a:pPr lvl="1"/>
            <a:endParaRPr lang="en-US" sz="3600">
              <a:latin typeface="Inter"/>
              <a:cs typeface="Poppins"/>
            </a:endParaRPr>
          </a:p>
        </p:txBody>
      </p:sp>
      <p:sp>
        <p:nvSpPr>
          <p:cNvPr id="3" name="Content Placeholder 2">
            <a:extLst>
              <a:ext uri="{FF2B5EF4-FFF2-40B4-BE49-F238E27FC236}">
                <a16:creationId xmlns:a16="http://schemas.microsoft.com/office/drawing/2014/main" id="{207BD852-C390-087E-DAF3-65B3C8EA2842}"/>
              </a:ext>
            </a:extLst>
          </p:cNvPr>
          <p:cNvSpPr>
            <a:spLocks noGrp="1"/>
          </p:cNvSpPr>
          <p:nvPr>
            <p:ph sz="half" idx="2"/>
          </p:nvPr>
        </p:nvSpPr>
        <p:spPr>
          <a:xfrm>
            <a:off x="11468768" y="3208778"/>
            <a:ext cx="12454417" cy="9046709"/>
          </a:xfrm>
        </p:spPr>
        <p:txBody>
          <a:bodyPr vert="horz" lIns="91440" tIns="45720" rIns="91440" bIns="45720" rtlCol="0" anchor="t">
            <a:normAutofit/>
          </a:bodyPr>
          <a:lstStyle/>
          <a:p>
            <a:pPr algn="ctr"/>
            <a:r>
              <a:rPr lang="en-US" sz="4000" b="1">
                <a:latin typeface="Inter"/>
                <a:cs typeface="Poppins"/>
              </a:rPr>
              <a:t>Predictive relationships </a:t>
            </a:r>
          </a:p>
          <a:p>
            <a:r>
              <a:rPr lang="en-US" sz="4000" b="1">
                <a:latin typeface="Inter"/>
                <a:cs typeface="Poppins"/>
              </a:rPr>
              <a:t>Granger Causality test</a:t>
            </a:r>
          </a:p>
          <a:p>
            <a:pPr lvl="1"/>
            <a:r>
              <a:rPr lang="en-US" sz="3600">
                <a:latin typeface="Inter"/>
                <a:cs typeface="Poppins"/>
              </a:rPr>
              <a:t>Statistically significant predictive relationship between two of the eight variables and monthly SPY returns</a:t>
            </a:r>
          </a:p>
          <a:p>
            <a:pPr lvl="1"/>
            <a:r>
              <a:rPr lang="en-US" sz="3600">
                <a:latin typeface="Inter"/>
                <a:cs typeface="Poppins"/>
              </a:rPr>
              <a:t>Macro economic feasibility from results </a:t>
            </a:r>
          </a:p>
          <a:p>
            <a:pPr lvl="1"/>
            <a:endParaRPr lang="en-US" sz="3600">
              <a:latin typeface="Inter"/>
              <a:cs typeface="Poppins"/>
            </a:endParaRPr>
          </a:p>
          <a:p>
            <a:pPr lvl="1"/>
            <a:endParaRPr lang="en-US" sz="3600">
              <a:latin typeface="Inter"/>
              <a:cs typeface="Poppins"/>
            </a:endParaRPr>
          </a:p>
          <a:p>
            <a:pPr marL="457200" lvl="1" indent="0">
              <a:buNone/>
            </a:pPr>
            <a:endParaRPr lang="en-US"/>
          </a:p>
        </p:txBody>
      </p:sp>
      <p:sp>
        <p:nvSpPr>
          <p:cNvPr id="5" name="Slide Number Placeholder 4">
            <a:extLst>
              <a:ext uri="{FF2B5EF4-FFF2-40B4-BE49-F238E27FC236}">
                <a16:creationId xmlns:a16="http://schemas.microsoft.com/office/drawing/2014/main" id="{1D821310-E678-4DFB-75AB-0D481CC17584}"/>
              </a:ext>
            </a:extLst>
          </p:cNvPr>
          <p:cNvSpPr>
            <a:spLocks noGrp="1"/>
          </p:cNvSpPr>
          <p:nvPr>
            <p:ph type="sldNum" sz="quarter" idx="14"/>
          </p:nvPr>
        </p:nvSpPr>
        <p:spPr/>
        <p:txBody>
          <a:bodyPr/>
          <a:lstStyle/>
          <a:p>
            <a:fld id="{86CB4B4D-7CA3-9044-876B-883B54F8677D}" type="slidenum">
              <a:rPr lang="en-US" smtClean="0"/>
              <a:pPr/>
              <a:t>11</a:t>
            </a:fld>
            <a:endParaRPr lang="en-US"/>
          </a:p>
        </p:txBody>
      </p:sp>
      <p:sp>
        <p:nvSpPr>
          <p:cNvPr id="6" name="Title 5">
            <a:extLst>
              <a:ext uri="{FF2B5EF4-FFF2-40B4-BE49-F238E27FC236}">
                <a16:creationId xmlns:a16="http://schemas.microsoft.com/office/drawing/2014/main" id="{F64520B1-BD0F-49FE-417B-72543E57A173}"/>
              </a:ext>
            </a:extLst>
          </p:cNvPr>
          <p:cNvSpPr>
            <a:spLocks noGrp="1"/>
          </p:cNvSpPr>
          <p:nvPr>
            <p:ph type="title"/>
          </p:nvPr>
        </p:nvSpPr>
        <p:spPr/>
        <p:txBody>
          <a:bodyPr/>
          <a:lstStyle/>
          <a:p>
            <a:r>
              <a:rPr lang="en-US">
                <a:latin typeface="Inter"/>
                <a:cs typeface="Poppins SemiBold"/>
              </a:rPr>
              <a:t>Summary of Results </a:t>
            </a:r>
            <a:endParaRPr lang="en-US"/>
          </a:p>
        </p:txBody>
      </p:sp>
      <p:pic>
        <p:nvPicPr>
          <p:cNvPr id="10242" name="Picture 2" descr="Check Mark Symbol on Transparent ...">
            <a:extLst>
              <a:ext uri="{FF2B5EF4-FFF2-40B4-BE49-F238E27FC236}">
                <a16:creationId xmlns:a16="http://schemas.microsoft.com/office/drawing/2014/main" id="{D312D67E-CB7D-0ACF-AE19-6E10D6D22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84255" y="8255282"/>
            <a:ext cx="3519186" cy="3519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655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2E206D-04A5-007F-1B9A-ABE86D311DC7}"/>
              </a:ext>
            </a:extLst>
          </p:cNvPr>
          <p:cNvSpPr>
            <a:spLocks noGrp="1"/>
          </p:cNvSpPr>
          <p:nvPr>
            <p:ph sz="half" idx="1"/>
          </p:nvPr>
        </p:nvSpPr>
        <p:spPr/>
        <p:txBody>
          <a:bodyPr vert="horz" lIns="91440" tIns="45720" rIns="91440" bIns="45720" rtlCol="0" anchor="t">
            <a:noAutofit/>
          </a:bodyPr>
          <a:lstStyle/>
          <a:p>
            <a:r>
              <a:rPr lang="en-US" dirty="0"/>
              <a:t>Economic Indicators &amp; SPY Performance</a:t>
            </a:r>
          </a:p>
          <a:p>
            <a:pPr lvl="1"/>
            <a:r>
              <a:rPr lang="en-US" sz="2800" b="1" dirty="0"/>
              <a:t>Lagging</a:t>
            </a:r>
            <a:r>
              <a:rPr lang="en-US" sz="2800" dirty="0"/>
              <a:t> and Feature Engineering (Plus Rolling Window Analysis)</a:t>
            </a:r>
          </a:p>
          <a:p>
            <a:pPr lvl="1"/>
            <a:r>
              <a:rPr lang="en-US" sz="2800" dirty="0"/>
              <a:t>Linear Regression and Multivariable Regression</a:t>
            </a:r>
          </a:p>
          <a:p>
            <a:r>
              <a:rPr lang="en-US" dirty="0"/>
              <a:t>Correlation of Different Indicating Variables (Predictive Rates)</a:t>
            </a:r>
          </a:p>
          <a:p>
            <a:pPr lvl="1"/>
            <a:r>
              <a:rPr lang="en-US" sz="2800" dirty="0"/>
              <a:t>Issues of </a:t>
            </a:r>
            <a:r>
              <a:rPr lang="en-US" sz="2800" b="1" dirty="0"/>
              <a:t>Multicollinearity</a:t>
            </a:r>
            <a:r>
              <a:rPr lang="en-US" sz="2800" dirty="0"/>
              <a:t> Between Indicating Variables</a:t>
            </a:r>
          </a:p>
          <a:p>
            <a:pPr lvl="1"/>
            <a:r>
              <a:rPr lang="en-US" sz="2800" dirty="0"/>
              <a:t>Granger Causality Tests</a:t>
            </a:r>
          </a:p>
          <a:p>
            <a:r>
              <a:rPr lang="en-US" dirty="0"/>
              <a:t>Complexity of Economic Indicators to Market Performance</a:t>
            </a:r>
          </a:p>
          <a:p>
            <a:pPr lvl="1"/>
            <a:r>
              <a:rPr lang="en-US" sz="2800" b="1" dirty="0"/>
              <a:t>Behavioral</a:t>
            </a:r>
            <a:r>
              <a:rPr lang="en-US" sz="2800" dirty="0"/>
              <a:t> Economics (&amp; Market Reactions to Expectations)</a:t>
            </a:r>
          </a:p>
          <a:p>
            <a:pPr lvl="1"/>
            <a:r>
              <a:rPr lang="en-US" sz="2800" dirty="0"/>
              <a:t>Lagging Effects</a:t>
            </a:r>
          </a:p>
          <a:p>
            <a:pPr lvl="1"/>
            <a:r>
              <a:rPr lang="en-US" sz="2800" dirty="0">
                <a:latin typeface="Inter"/>
                <a:cs typeface="Poppins"/>
              </a:rPr>
              <a:t>Market </a:t>
            </a:r>
            <a:r>
              <a:rPr lang="en-US" sz="2800" b="1" dirty="0">
                <a:latin typeface="Inter"/>
                <a:cs typeface="Poppins"/>
              </a:rPr>
              <a:t>Psychology</a:t>
            </a:r>
          </a:p>
          <a:p>
            <a:pPr lvl="1"/>
            <a:r>
              <a:rPr lang="en-US" sz="2800" dirty="0"/>
              <a:t>Multiple </a:t>
            </a:r>
            <a:r>
              <a:rPr lang="en-US" sz="2800" b="1" dirty="0"/>
              <a:t>Interrelated</a:t>
            </a:r>
            <a:r>
              <a:rPr lang="en-US" sz="2800" dirty="0"/>
              <a:t> Indicators</a:t>
            </a:r>
          </a:p>
          <a:p>
            <a:r>
              <a:rPr lang="en-US" dirty="0"/>
              <a:t>Limitations of Research</a:t>
            </a:r>
          </a:p>
          <a:p>
            <a:pPr lvl="1"/>
            <a:endParaRPr lang="en-US" sz="2800" dirty="0"/>
          </a:p>
        </p:txBody>
      </p:sp>
      <p:sp>
        <p:nvSpPr>
          <p:cNvPr id="5" name="Slide Number Placeholder 4">
            <a:extLst>
              <a:ext uri="{FF2B5EF4-FFF2-40B4-BE49-F238E27FC236}">
                <a16:creationId xmlns:a16="http://schemas.microsoft.com/office/drawing/2014/main" id="{3BDAE7B7-CFA3-EA8F-DA64-6A2952E708BE}"/>
              </a:ext>
            </a:extLst>
          </p:cNvPr>
          <p:cNvSpPr>
            <a:spLocks noGrp="1"/>
          </p:cNvSpPr>
          <p:nvPr>
            <p:ph type="sldNum" sz="quarter" idx="14"/>
          </p:nvPr>
        </p:nvSpPr>
        <p:spPr/>
        <p:txBody>
          <a:bodyPr/>
          <a:lstStyle/>
          <a:p>
            <a:fld id="{86CB4B4D-7CA3-9044-876B-883B54F8677D}" type="slidenum">
              <a:rPr lang="en-US" smtClean="0"/>
              <a:pPr/>
              <a:t>12</a:t>
            </a:fld>
            <a:endParaRPr lang="en-US"/>
          </a:p>
        </p:txBody>
      </p:sp>
      <p:sp>
        <p:nvSpPr>
          <p:cNvPr id="6" name="Title 5">
            <a:extLst>
              <a:ext uri="{FF2B5EF4-FFF2-40B4-BE49-F238E27FC236}">
                <a16:creationId xmlns:a16="http://schemas.microsoft.com/office/drawing/2014/main" id="{951065B5-18CB-0459-E88B-B46BC421117F}"/>
              </a:ext>
            </a:extLst>
          </p:cNvPr>
          <p:cNvSpPr>
            <a:spLocks noGrp="1"/>
          </p:cNvSpPr>
          <p:nvPr>
            <p:ph type="title"/>
          </p:nvPr>
        </p:nvSpPr>
        <p:spPr>
          <a:xfrm>
            <a:off x="914399" y="1058333"/>
            <a:ext cx="10327343" cy="1456267"/>
          </a:xfrm>
          <a:ln>
            <a:solidFill>
              <a:srgbClr val="4472C4"/>
            </a:solidFill>
          </a:ln>
        </p:spPr>
        <p:txBody>
          <a:bodyPr/>
          <a:lstStyle/>
          <a:p>
            <a:r>
              <a:rPr lang="en-US" dirty="0"/>
              <a:t>Discussions &amp; Conclusions</a:t>
            </a:r>
          </a:p>
        </p:txBody>
      </p:sp>
      <p:pic>
        <p:nvPicPr>
          <p:cNvPr id="8" name="Content Placeholder 7">
            <a:extLst>
              <a:ext uri="{FF2B5EF4-FFF2-40B4-BE49-F238E27FC236}">
                <a16:creationId xmlns:a16="http://schemas.microsoft.com/office/drawing/2014/main" id="{458F4B5C-7201-9B87-92D8-BD012711F297}"/>
              </a:ext>
            </a:extLst>
          </p:cNvPr>
          <p:cNvPicPr>
            <a:picLocks noGrp="1" noChangeAspect="1"/>
          </p:cNvPicPr>
          <p:nvPr>
            <p:ph sz="half" idx="2"/>
          </p:nvPr>
        </p:nvPicPr>
        <p:blipFill>
          <a:blip r:embed="rId3"/>
          <a:stretch>
            <a:fillRect/>
          </a:stretch>
        </p:blipFill>
        <p:spPr>
          <a:xfrm>
            <a:off x="14610293" y="183379"/>
            <a:ext cx="6674621" cy="6674621"/>
          </a:xfrm>
          <a:prstGeom prst="rect">
            <a:avLst/>
          </a:prstGeom>
        </p:spPr>
      </p:pic>
      <p:pic>
        <p:nvPicPr>
          <p:cNvPr id="7" name="Picture 6">
            <a:extLst>
              <a:ext uri="{FF2B5EF4-FFF2-40B4-BE49-F238E27FC236}">
                <a16:creationId xmlns:a16="http://schemas.microsoft.com/office/drawing/2014/main" id="{58E6AA84-BA2C-B3B2-5852-7901FE684A12}"/>
              </a:ext>
            </a:extLst>
          </p:cNvPr>
          <p:cNvPicPr>
            <a:picLocks noChangeAspect="1"/>
          </p:cNvPicPr>
          <p:nvPr/>
        </p:nvPicPr>
        <p:blipFill>
          <a:blip r:embed="rId4"/>
          <a:stretch>
            <a:fillRect/>
          </a:stretch>
        </p:blipFill>
        <p:spPr>
          <a:xfrm>
            <a:off x="12918404" y="6629207"/>
            <a:ext cx="10058400" cy="5563347"/>
          </a:xfrm>
          <a:prstGeom prst="rect">
            <a:avLst/>
          </a:prstGeom>
        </p:spPr>
      </p:pic>
    </p:spTree>
    <p:extLst>
      <p:ext uri="{BB962C8B-B14F-4D97-AF65-F5344CB8AC3E}">
        <p14:creationId xmlns:p14="http://schemas.microsoft.com/office/powerpoint/2010/main" val="122829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24F9-DC76-7F43-C211-C07141EAB660}"/>
              </a:ext>
            </a:extLst>
          </p:cNvPr>
          <p:cNvSpPr>
            <a:spLocks noGrp="1"/>
          </p:cNvSpPr>
          <p:nvPr>
            <p:ph type="title"/>
          </p:nvPr>
        </p:nvSpPr>
        <p:spPr/>
        <p:txBody>
          <a:bodyPr/>
          <a:lstStyle/>
          <a:p>
            <a:r>
              <a:rPr lang="en-US"/>
              <a:t>Sources</a:t>
            </a:r>
          </a:p>
        </p:txBody>
      </p:sp>
      <p:pic>
        <p:nvPicPr>
          <p:cNvPr id="5" name="Picture 4" descr="Federal Reserve Economic Data | FRED | St. Louis Fed">
            <a:extLst>
              <a:ext uri="{FF2B5EF4-FFF2-40B4-BE49-F238E27FC236}">
                <a16:creationId xmlns:a16="http://schemas.microsoft.com/office/drawing/2014/main" id="{F54C7E9B-F80D-C52F-9BCB-7A5B23F4C61B}"/>
              </a:ext>
            </a:extLst>
          </p:cNvPr>
          <p:cNvPicPr>
            <a:picLocks noChangeAspect="1"/>
          </p:cNvPicPr>
          <p:nvPr/>
        </p:nvPicPr>
        <p:blipFill>
          <a:blip r:embed="rId2"/>
          <a:stretch>
            <a:fillRect/>
          </a:stretch>
        </p:blipFill>
        <p:spPr>
          <a:xfrm>
            <a:off x="676399" y="3264449"/>
            <a:ext cx="5682378" cy="1773378"/>
          </a:xfrm>
          <a:prstGeom prst="rect">
            <a:avLst/>
          </a:prstGeom>
        </p:spPr>
      </p:pic>
      <p:pic>
        <p:nvPicPr>
          <p:cNvPr id="9218" name="Picture 2" descr="Yahoo Finance - Wikipedia">
            <a:extLst>
              <a:ext uri="{FF2B5EF4-FFF2-40B4-BE49-F238E27FC236}">
                <a16:creationId xmlns:a16="http://schemas.microsoft.com/office/drawing/2014/main" id="{E995AD9C-E0C1-DC96-454F-BBF088BFC2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399" y="6401584"/>
            <a:ext cx="4887589" cy="179167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pandas (software) - Wikipedia">
            <a:extLst>
              <a:ext uri="{FF2B5EF4-FFF2-40B4-BE49-F238E27FC236}">
                <a16:creationId xmlns:a16="http://schemas.microsoft.com/office/drawing/2014/main" id="{FAB6CC8E-1216-DF1F-6D82-77284A20AC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0721" y="3196488"/>
            <a:ext cx="4422809" cy="1791676"/>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numpy · PyPI">
            <a:extLst>
              <a:ext uri="{FF2B5EF4-FFF2-40B4-BE49-F238E27FC236}">
                <a16:creationId xmlns:a16="http://schemas.microsoft.com/office/drawing/2014/main" id="{50F99CEC-B347-219F-F927-0077FD179E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1658" y="9024583"/>
            <a:ext cx="4619342" cy="2068362"/>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Matplotlib - Python Library - Studyopedia">
            <a:extLst>
              <a:ext uri="{FF2B5EF4-FFF2-40B4-BE49-F238E27FC236}">
                <a16:creationId xmlns:a16="http://schemas.microsoft.com/office/drawing/2014/main" id="{3A42A65E-4D00-059E-C73F-A342997A4B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8776" y="8833329"/>
            <a:ext cx="4936753" cy="2738996"/>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descr="seaborn · PyPI">
            <a:extLst>
              <a:ext uri="{FF2B5EF4-FFF2-40B4-BE49-F238E27FC236}">
                <a16:creationId xmlns:a16="http://schemas.microsoft.com/office/drawing/2014/main" id="{147DAEE7-AF98-7882-F4F3-273411CB2D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9368" y="6547329"/>
            <a:ext cx="5473517" cy="1563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807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A7BD-CE59-1B1C-6461-51D5A6FB8947}"/>
              </a:ext>
            </a:extLst>
          </p:cNvPr>
          <p:cNvSpPr>
            <a:spLocks noGrp="1"/>
          </p:cNvSpPr>
          <p:nvPr>
            <p:ph type="title"/>
          </p:nvPr>
        </p:nvSpPr>
        <p:spPr>
          <a:xfrm rot="10800000" flipV="1">
            <a:off x="3517899" y="5683249"/>
            <a:ext cx="4885268" cy="2349501"/>
          </a:xfrm>
        </p:spPr>
        <p:txBody>
          <a:bodyPr>
            <a:noAutofit/>
          </a:bodyPr>
          <a:lstStyle/>
          <a:p>
            <a:r>
              <a:rPr lang="en-US" sz="18000" dirty="0"/>
              <a:t>Q&amp;A</a:t>
            </a:r>
          </a:p>
        </p:txBody>
      </p:sp>
    </p:spTree>
    <p:extLst>
      <p:ext uri="{BB962C8B-B14F-4D97-AF65-F5344CB8AC3E}">
        <p14:creationId xmlns:p14="http://schemas.microsoft.com/office/powerpoint/2010/main" val="68329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058363"/>
      </p:ext>
    </p:extLst>
  </p:cSld>
  <p:clrMapOvr>
    <a:masterClrMapping/>
  </p:clrMapOvr>
</p:sld>
</file>

<file path=ppt/theme/theme1.xml><?xml version="1.0" encoding="utf-8"?>
<a:theme xmlns:a="http://schemas.openxmlformats.org/drawingml/2006/main" name="Covers">
  <a:themeElements>
    <a:clrScheme name="Bonjoy Brand">
      <a:dk1>
        <a:srgbClr val="F5F5F6"/>
      </a:dk1>
      <a:lt1>
        <a:srgbClr val="667085"/>
      </a:lt1>
      <a:dk2>
        <a:srgbClr val="93969C"/>
      </a:dk2>
      <a:lt2>
        <a:srgbClr val="93969C"/>
      </a:lt2>
      <a:accent1>
        <a:srgbClr val="026994"/>
      </a:accent1>
      <a:accent2>
        <a:srgbClr val="0075A7"/>
      </a:accent2>
      <a:accent3>
        <a:srgbClr val="0075A7"/>
      </a:accent3>
      <a:accent4>
        <a:srgbClr val="0093CF"/>
      </a:accent4>
      <a:accent5>
        <a:srgbClr val="05B7F2"/>
      </a:accent5>
      <a:accent6>
        <a:srgbClr val="30CDFF"/>
      </a:accent6>
      <a:hlink>
        <a:srgbClr val="05B7F2"/>
      </a:hlink>
      <a:folHlink>
        <a:srgbClr val="05344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2025 TradersAtSMU Template" id="{8CB0D442-75FD-4C44-892B-3852F376C9F8}" vid="{00AE70A0-4A1F-C247-AB39-09BD0962EE3B}"/>
    </a:ext>
  </a:extLst>
</a:theme>
</file>

<file path=ppt/theme/theme2.xml><?xml version="1.0" encoding="utf-8"?>
<a:theme xmlns:a="http://schemas.openxmlformats.org/drawingml/2006/main" name="Conten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931399C6-1BE7-DC46-ADF7-8F94B3D304D6}"/>
    </a:ext>
  </a:extLst>
</a:theme>
</file>

<file path=ppt/theme/theme3.xml><?xml version="1.0" encoding="utf-8"?>
<a:theme xmlns:a="http://schemas.openxmlformats.org/drawingml/2006/main" name="Section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C0359CAB-40A0-EA4B-8F6D-950F4948605F}"/>
    </a:ext>
  </a:extLst>
</a:theme>
</file>

<file path=ppt/theme/theme4.xml><?xml version="1.0" encoding="utf-8"?>
<a:theme xmlns:a="http://schemas.openxmlformats.org/drawingml/2006/main" name="Closing">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5 TradersAtSMU Template" id="{8CB0D442-75FD-4C44-892B-3852F376C9F8}" vid="{401B2189-6F5A-D547-9427-ACEB6E48A550}"/>
    </a:ext>
  </a:extLst>
</a:theme>
</file>

<file path=ppt/theme/theme5.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9E68189D6D5E041B2A543DCC761D554" ma:contentTypeVersion="9" ma:contentTypeDescription="Create a new document." ma:contentTypeScope="" ma:versionID="607ac70a0402a8b674dbdb236c5faf00">
  <xsd:schema xmlns:xsd="http://www.w3.org/2001/XMLSchema" xmlns:xs="http://www.w3.org/2001/XMLSchema" xmlns:p="http://schemas.microsoft.com/office/2006/metadata/properties" xmlns:ns3="5d9d98e6-9028-41bb-a27d-ba1d8a046001" xmlns:ns4="9a5dc49a-2ad1-423c-9f20-91168ba40018" targetNamespace="http://schemas.microsoft.com/office/2006/metadata/properties" ma:root="true" ma:fieldsID="9e6c71e293287ee20fcc883ba0b3c1f8" ns3:_="" ns4:_="">
    <xsd:import namespace="5d9d98e6-9028-41bb-a27d-ba1d8a046001"/>
    <xsd:import namespace="9a5dc49a-2ad1-423c-9f20-91168ba4001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d98e6-9028-41bb-a27d-ba1d8a0460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5dc49a-2ad1-423c-9f20-91168ba4001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5d9d98e6-9028-41bb-a27d-ba1d8a04600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8B4830-53B1-484C-8F7B-36F1FAF3BB19}">
  <ds:schemaRefs>
    <ds:schemaRef ds:uri="http://schemas.microsoft.com/office/2006/metadata/contentType"/>
    <ds:schemaRef ds:uri="http://schemas.microsoft.com/office/2006/metadata/properties/metaAttributes"/>
    <ds:schemaRef ds:uri="http://www.w3.org/2000/xmlns/"/>
    <ds:schemaRef ds:uri="http://www.w3.org/2001/XMLSchema"/>
    <ds:schemaRef ds:uri="5d9d98e6-9028-41bb-a27d-ba1d8a046001"/>
    <ds:schemaRef ds:uri="9a5dc49a-2ad1-423c-9f20-91168ba40018"/>
  </ds:schemaRefs>
</ds:datastoreItem>
</file>

<file path=customXml/itemProps2.xml><?xml version="1.0" encoding="utf-8"?>
<ds:datastoreItem xmlns:ds="http://schemas.openxmlformats.org/officeDocument/2006/customXml" ds:itemID="{5579851F-D594-4436-AA2A-42EDEC9C9E16}">
  <ds:schemaRefs>
    <ds:schemaRef ds:uri="http://schemas.microsoft.com/office/2006/metadata/properties"/>
    <ds:schemaRef ds:uri="http://www.w3.org/2000/xmlns/"/>
    <ds:schemaRef ds:uri="5d9d98e6-9028-41bb-a27d-ba1d8a046001"/>
    <ds:schemaRef ds:uri="http://www.w3.org/2001/XMLSchema-instance"/>
  </ds:schemaRefs>
</ds:datastoreItem>
</file>

<file path=customXml/itemProps3.xml><?xml version="1.0" encoding="utf-8"?>
<ds:datastoreItem xmlns:ds="http://schemas.openxmlformats.org/officeDocument/2006/customXml" ds:itemID="{ABADD460-6E7B-447D-965A-9247448391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2025 TradersAtSMU Template</Template>
  <Application>Microsoft Office PowerPoint</Application>
  <PresentationFormat>Custom</PresentationFormat>
  <Slides>15</Slides>
  <Notes>10</Notes>
  <HiddenSlides>0</HiddenSlides>
  <ScaleCrop>false</ScaleCrop>
  <HeadingPairs>
    <vt:vector size="4" baseType="variant">
      <vt:variant>
        <vt:lpstr>Theme</vt:lpstr>
      </vt:variant>
      <vt:variant>
        <vt:i4>4</vt:i4>
      </vt:variant>
      <vt:variant>
        <vt:lpstr>Slide Titles</vt:lpstr>
      </vt:variant>
      <vt:variant>
        <vt:i4>15</vt:i4>
      </vt:variant>
    </vt:vector>
  </HeadingPairs>
  <TitlesOfParts>
    <vt:vector size="19" baseType="lpstr">
      <vt:lpstr>Covers</vt:lpstr>
      <vt:lpstr>Content</vt:lpstr>
      <vt:lpstr>Sections</vt:lpstr>
      <vt:lpstr>Closing</vt:lpstr>
      <vt:lpstr>US Economic Indicators Relationship to SPY Performance</vt:lpstr>
      <vt:lpstr>Our Team</vt:lpstr>
      <vt:lpstr>Research Question &amp; Agenda</vt:lpstr>
      <vt:lpstr>Steps we took</vt:lpstr>
      <vt:lpstr>Downloading Data &amp; Exploratory Data Analysis (EDA)</vt:lpstr>
      <vt:lpstr>Indicator Lagging and Feature Engineering</vt:lpstr>
      <vt:lpstr>Single Variable Regression Model</vt:lpstr>
      <vt:lpstr>Multivariable Regression Model</vt:lpstr>
      <vt:lpstr>Rolling Window Analysis</vt:lpstr>
      <vt:lpstr>Granger Causality Test</vt:lpstr>
      <vt:lpstr>Summary of Results </vt:lpstr>
      <vt:lpstr>Discussions &amp; Conclusions</vt:lpstr>
      <vt:lpstr>Sources</vt:lpstr>
      <vt:lpstr>Q&amp;A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Indicators vs. S&amp;P 500 Performance</dc:title>
  <dc:creator>Owen Merrill</dc:creator>
  <cp:lastModifiedBy>Finn Ihlanfeldt</cp:lastModifiedBy>
  <cp:revision>1</cp:revision>
  <dcterms:created xsi:type="dcterms:W3CDTF">2025-04-29T05:33:35Z</dcterms:created>
  <dcterms:modified xsi:type="dcterms:W3CDTF">2025-04-30T21:50:57Z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0x01010099E68189D6D5E041B2A543DCC761D554</vt:lpwstr>
  </property>
  <property fmtid="{D5CDD505-2E9C-101B-9397-08002B2CF9AE}" pid="3" name="MediaServiceImageTags">
    <vt:lpwstr/>
  </property>
</Properties>
</file>